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Urbanist Medium"/>
      <p:regular r:id="rId16"/>
      <p:bold r:id="rId17"/>
      <p:italic r:id="rId18"/>
      <p:boldItalic r:id="rId19"/>
    </p:embeddedFont>
    <p:embeddedFont>
      <p:font typeface="Urbanist SemiBold"/>
      <p:regular r:id="rId20"/>
      <p:bold r:id="rId21"/>
      <p:italic r:id="rId22"/>
      <p:boldItalic r:id="rId23"/>
    </p:embeddedFont>
    <p:embeddedFont>
      <p:font typeface="Urbanis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regular.fntdata"/><Relationship Id="rId22" Type="http://schemas.openxmlformats.org/officeDocument/2006/relationships/font" Target="fonts/UrbanistSemiBold-italic.fntdata"/><Relationship Id="rId21" Type="http://schemas.openxmlformats.org/officeDocument/2006/relationships/font" Target="fonts/UrbanistSemiBold-bold.fntdata"/><Relationship Id="rId24" Type="http://schemas.openxmlformats.org/officeDocument/2006/relationships/font" Target="fonts/Urbanist-regular.fntdata"/><Relationship Id="rId23" Type="http://schemas.openxmlformats.org/officeDocument/2006/relationships/font" Target="fonts/UrbanistSemiBold-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italic.fntdata"/><Relationship Id="rId25" Type="http://schemas.openxmlformats.org/officeDocument/2006/relationships/font" Target="fonts/Urbanist-bold.fntdata"/><Relationship Id="rId27" Type="http://schemas.openxmlformats.org/officeDocument/2006/relationships/font" Target="fonts/Urbanis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UrbanistMedium-bold.fntdata"/><Relationship Id="rId16" Type="http://schemas.openxmlformats.org/officeDocument/2006/relationships/font" Target="fonts/UrbanistMedium-regular.fntdata"/><Relationship Id="rId19" Type="http://schemas.openxmlformats.org/officeDocument/2006/relationships/font" Target="fonts/UrbanistMedium-boldItalic.fntdata"/><Relationship Id="rId18" Type="http://schemas.openxmlformats.org/officeDocument/2006/relationships/font" Target="fonts/Urbanist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6ed73f08bc_0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6ed73f08bc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6ed73f08bc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6ed73f08bc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6ed73f08bc_1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6ed73f08bc_1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ed73f08bc_1_1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ed73f08bc_1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6ed73f08bc_1_1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6ed73f08bc_1_1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6ed73f08bc_1_1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6ed73f08bc_1_1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6ed73f08bc_1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6ed73f08bc_1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6ed73f08bc_1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6ed73f08bc_1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6ed73f08bc_1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6ed73f08bc_1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56" name="Google Shape;56;p14"/>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14"/>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8" name="Google Shape;58;p1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9" name="Google Shape;59;p1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0" name="Google Shape;60;p1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1" name="Google Shape;6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 name="Google Shape;63;p14"/>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4" name="Google Shape;64;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5" name="Google Shape;65;p14"/>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6" name="Google Shape;66;p14"/>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7" name="Google Shape;67;p14"/>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8" name="Google Shape;68;p14"/>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69" name="Shape 69"/>
        <p:cNvGrpSpPr/>
        <p:nvPr/>
      </p:nvGrpSpPr>
      <p:grpSpPr>
        <a:xfrm>
          <a:off x="0" y="0"/>
          <a:ext cx="0" cy="0"/>
          <a:chOff x="0" y="0"/>
          <a:chExt cx="0" cy="0"/>
        </a:xfrm>
      </p:grpSpPr>
      <p:sp>
        <p:nvSpPr>
          <p:cNvPr id="70" name="Google Shape;70;p15"/>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71" name="Google Shape;71;p1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72" name="Google Shape;72;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3" name="Google Shape;73;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4" name="Google Shape;74;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5" name="Google Shape;75;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78" name="Shape 78"/>
        <p:cNvGrpSpPr/>
        <p:nvPr/>
      </p:nvGrpSpPr>
      <p:grpSpPr>
        <a:xfrm>
          <a:off x="0" y="0"/>
          <a:ext cx="0" cy="0"/>
          <a:chOff x="0" y="0"/>
          <a:chExt cx="0" cy="0"/>
        </a:xfrm>
      </p:grpSpPr>
      <p:sp>
        <p:nvSpPr>
          <p:cNvPr id="79" name="Google Shape;79;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80" name="Google Shape;80;p16"/>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81" name="Google Shape;81;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4" name="Google Shape;84;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6"/>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8" name="Google Shape;88;p16"/>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89" name="Google Shape;89;p16"/>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90" name="Google Shape;90;p16"/>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1" name="Google Shape;91;p16"/>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2" name="Google Shape;92;p16"/>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93" name="Shape 93"/>
        <p:cNvGrpSpPr/>
        <p:nvPr/>
      </p:nvGrpSpPr>
      <p:grpSpPr>
        <a:xfrm>
          <a:off x="0" y="0"/>
          <a:ext cx="0" cy="0"/>
          <a:chOff x="0" y="0"/>
          <a:chExt cx="0" cy="0"/>
        </a:xfrm>
      </p:grpSpPr>
      <p:sp>
        <p:nvSpPr>
          <p:cNvPr id="94" name="Google Shape;94;p17"/>
          <p:cNvSpPr/>
          <p:nvPr>
            <p:ph idx="2" type="pic"/>
          </p:nvPr>
        </p:nvSpPr>
        <p:spPr>
          <a:xfrm>
            <a:off x="246150" y="237650"/>
            <a:ext cx="4196400" cy="4438200"/>
          </a:xfrm>
          <a:prstGeom prst="rect">
            <a:avLst/>
          </a:prstGeom>
          <a:noFill/>
          <a:ln>
            <a:noFill/>
          </a:ln>
        </p:spPr>
      </p:sp>
      <p:sp>
        <p:nvSpPr>
          <p:cNvPr id="95" name="Google Shape;95;p17"/>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6" name="Google Shape;96;p17"/>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97" name="Google Shape;97;p17"/>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98" name="Google Shape;98;p17"/>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9" name="Google Shape;99;p17"/>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17"/>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04" name="Google Shape;104;p17"/>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05" name="Google Shape;105;p17"/>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06" name="Google Shape;106;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07" name="Shape 107"/>
        <p:cNvGrpSpPr/>
        <p:nvPr/>
      </p:nvGrpSpPr>
      <p:grpSpPr>
        <a:xfrm>
          <a:off x="0" y="0"/>
          <a:ext cx="0" cy="0"/>
          <a:chOff x="0" y="0"/>
          <a:chExt cx="0" cy="0"/>
        </a:xfrm>
      </p:grpSpPr>
      <p:sp>
        <p:nvSpPr>
          <p:cNvPr id="108" name="Google Shape;108;p18"/>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9" name="Google Shape;109;p18"/>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0" name="Google Shape;110;p18"/>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11" name="Google Shape;111;p18"/>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12" name="Google Shape;112;p18"/>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13" name="Google Shape;113;p1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4" name="Google Shape;114;p18"/>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5" name="Google Shape;115;p1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6" name="Google Shape;1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8" name="Google Shape;118;p18"/>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19" name="Google Shape;11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20"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22" name="Google Shape;122;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4" name="Google Shape;124;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5" name="Google Shape;125;p19"/>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26" name="Google Shape;126;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7" name="Google Shape;127;p19"/>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8" name="Google Shape;128;p19"/>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29" name="Google Shape;129;p19"/>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0" name="Google Shape;130;p19"/>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1" name="Google Shape;131;p19"/>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2" name="Google Shape;132;p19"/>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33" name="Google Shape;133;p19"/>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4" name="Google Shape;134;p19"/>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5" name="Google Shape;135;p19"/>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6" name="Google Shape;136;p19"/>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7" name="Google Shape;137;p19"/>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8" name="Google Shape;138;p19"/>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9" name="Google Shape;139;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41" name="Shape 141"/>
        <p:cNvGrpSpPr/>
        <p:nvPr/>
      </p:nvGrpSpPr>
      <p:grpSpPr>
        <a:xfrm>
          <a:off x="0" y="0"/>
          <a:ext cx="0" cy="0"/>
          <a:chOff x="0" y="0"/>
          <a:chExt cx="0" cy="0"/>
        </a:xfrm>
      </p:grpSpPr>
      <p:sp>
        <p:nvSpPr>
          <p:cNvPr id="142" name="Google Shape;142;p20"/>
          <p:cNvSpPr/>
          <p:nvPr>
            <p:ph idx="2" type="pic"/>
          </p:nvPr>
        </p:nvSpPr>
        <p:spPr>
          <a:xfrm>
            <a:off x="4618950" y="228600"/>
            <a:ext cx="1370400" cy="1357500"/>
          </a:xfrm>
          <a:prstGeom prst="roundRect">
            <a:avLst>
              <a:gd fmla="val 16935" name="adj"/>
            </a:avLst>
          </a:prstGeom>
          <a:noFill/>
          <a:ln>
            <a:noFill/>
          </a:ln>
        </p:spPr>
      </p:sp>
      <p:sp>
        <p:nvSpPr>
          <p:cNvPr id="143" name="Google Shape;143;p20"/>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44" name="Google Shape;144;p20"/>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5" name="Google Shape;145;p20"/>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48" name="Google Shape;148;p20"/>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49" name="Google Shape;149;p20"/>
          <p:cNvSpPr/>
          <p:nvPr>
            <p:ph idx="7" type="pic"/>
          </p:nvPr>
        </p:nvSpPr>
        <p:spPr>
          <a:xfrm>
            <a:off x="6080700" y="228600"/>
            <a:ext cx="1370400" cy="1357500"/>
          </a:xfrm>
          <a:prstGeom prst="roundRect">
            <a:avLst>
              <a:gd fmla="val 16935" name="adj"/>
            </a:avLst>
          </a:prstGeom>
          <a:noFill/>
          <a:ln>
            <a:noFill/>
          </a:ln>
        </p:spPr>
      </p:sp>
      <p:sp>
        <p:nvSpPr>
          <p:cNvPr id="150" name="Google Shape;150;p20"/>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1" name="Google Shape;151;p20"/>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2" name="Google Shape;152;p20"/>
          <p:cNvSpPr/>
          <p:nvPr>
            <p:ph idx="13" type="pic"/>
          </p:nvPr>
        </p:nvSpPr>
        <p:spPr>
          <a:xfrm>
            <a:off x="7542450" y="228600"/>
            <a:ext cx="1370400" cy="1357500"/>
          </a:xfrm>
          <a:prstGeom prst="roundRect">
            <a:avLst>
              <a:gd fmla="val 16935" name="adj"/>
            </a:avLst>
          </a:prstGeom>
          <a:noFill/>
          <a:ln>
            <a:noFill/>
          </a:ln>
        </p:spPr>
      </p:sp>
      <p:sp>
        <p:nvSpPr>
          <p:cNvPr id="153" name="Google Shape;153;p20"/>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4" name="Google Shape;154;p20"/>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5" name="Google Shape;155;p20"/>
          <p:cNvSpPr/>
          <p:nvPr>
            <p:ph idx="16" type="pic"/>
          </p:nvPr>
        </p:nvSpPr>
        <p:spPr>
          <a:xfrm>
            <a:off x="4618950" y="2295725"/>
            <a:ext cx="1370400" cy="1357500"/>
          </a:xfrm>
          <a:prstGeom prst="roundRect">
            <a:avLst>
              <a:gd fmla="val 16935" name="adj"/>
            </a:avLst>
          </a:prstGeom>
          <a:noFill/>
          <a:ln>
            <a:noFill/>
          </a:ln>
        </p:spPr>
      </p:sp>
      <p:sp>
        <p:nvSpPr>
          <p:cNvPr id="156" name="Google Shape;156;p20"/>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57" name="Google Shape;157;p20"/>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58" name="Google Shape;158;p20"/>
          <p:cNvSpPr/>
          <p:nvPr>
            <p:ph idx="19" type="pic"/>
          </p:nvPr>
        </p:nvSpPr>
        <p:spPr>
          <a:xfrm>
            <a:off x="6080700" y="2295725"/>
            <a:ext cx="1370400" cy="1357500"/>
          </a:xfrm>
          <a:prstGeom prst="roundRect">
            <a:avLst>
              <a:gd fmla="val 16935" name="adj"/>
            </a:avLst>
          </a:prstGeom>
          <a:noFill/>
          <a:ln>
            <a:noFill/>
          </a:ln>
        </p:spPr>
      </p:sp>
      <p:sp>
        <p:nvSpPr>
          <p:cNvPr id="159" name="Google Shape;159;p20"/>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0" name="Google Shape;160;p20"/>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61" name="Google Shape;161;p20"/>
          <p:cNvSpPr/>
          <p:nvPr>
            <p:ph idx="22" type="pic"/>
          </p:nvPr>
        </p:nvSpPr>
        <p:spPr>
          <a:xfrm>
            <a:off x="7542450" y="2295725"/>
            <a:ext cx="1370400" cy="1357500"/>
          </a:xfrm>
          <a:prstGeom prst="roundRect">
            <a:avLst>
              <a:gd fmla="val 16935" name="adj"/>
            </a:avLst>
          </a:prstGeom>
          <a:noFill/>
          <a:ln>
            <a:noFill/>
          </a:ln>
        </p:spPr>
      </p:sp>
      <p:sp>
        <p:nvSpPr>
          <p:cNvPr id="162" name="Google Shape;162;p20"/>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3" name="Google Shape;163;p20"/>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64" name="Google Shape;164;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5" name="Google Shape;165;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67" name="Shape 167"/>
        <p:cNvGrpSpPr/>
        <p:nvPr/>
      </p:nvGrpSpPr>
      <p:grpSpPr>
        <a:xfrm>
          <a:off x="0" y="0"/>
          <a:ext cx="0" cy="0"/>
          <a:chOff x="0" y="0"/>
          <a:chExt cx="0" cy="0"/>
        </a:xfrm>
      </p:grpSpPr>
      <p:sp>
        <p:nvSpPr>
          <p:cNvPr id="168" name="Google Shape;168;p21"/>
          <p:cNvSpPr/>
          <p:nvPr>
            <p:ph idx="2" type="pic"/>
          </p:nvPr>
        </p:nvSpPr>
        <p:spPr>
          <a:xfrm>
            <a:off x="9425" y="-3075"/>
            <a:ext cx="9144000" cy="4641000"/>
          </a:xfrm>
          <a:prstGeom prst="rect">
            <a:avLst/>
          </a:prstGeom>
          <a:noFill/>
          <a:ln>
            <a:noFill/>
          </a:ln>
        </p:spPr>
      </p:sp>
      <p:sp>
        <p:nvSpPr>
          <p:cNvPr id="169" name="Google Shape;169;p21"/>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70" name="Google Shape;170;p21"/>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71" name="Google Shape;171;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2" name="Google Shape;172;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3" name="Google Shape;173;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74" name="Google Shape;174;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75" name="Google Shape;175;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77" name="Shape 177"/>
        <p:cNvGrpSpPr/>
        <p:nvPr/>
      </p:nvGrpSpPr>
      <p:grpSpPr>
        <a:xfrm>
          <a:off x="0" y="0"/>
          <a:ext cx="0" cy="0"/>
          <a:chOff x="0" y="0"/>
          <a:chExt cx="0" cy="0"/>
        </a:xfrm>
      </p:grpSpPr>
      <p:sp>
        <p:nvSpPr>
          <p:cNvPr id="178" name="Google Shape;178;p2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2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2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22"/>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86" name="Google Shape;186;p22"/>
          <p:cNvSpPr/>
          <p:nvPr>
            <p:ph idx="4" type="pic"/>
          </p:nvPr>
        </p:nvSpPr>
        <p:spPr>
          <a:xfrm>
            <a:off x="426700" y="1896600"/>
            <a:ext cx="665400" cy="685500"/>
          </a:xfrm>
          <a:prstGeom prst="roundRect">
            <a:avLst>
              <a:gd fmla="val 17601" name="adj"/>
            </a:avLst>
          </a:prstGeom>
          <a:noFill/>
          <a:ln>
            <a:noFill/>
          </a:ln>
        </p:spPr>
      </p:sp>
      <p:sp>
        <p:nvSpPr>
          <p:cNvPr id="187" name="Google Shape;187;p22"/>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88" name="Google Shape;188;p22"/>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89" name="Google Shape;189;p22"/>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0" name="Google Shape;190;p22"/>
          <p:cNvSpPr/>
          <p:nvPr>
            <p:ph idx="8" type="pic"/>
          </p:nvPr>
        </p:nvSpPr>
        <p:spPr>
          <a:xfrm>
            <a:off x="2621800" y="1896600"/>
            <a:ext cx="665400" cy="685500"/>
          </a:xfrm>
          <a:prstGeom prst="roundRect">
            <a:avLst>
              <a:gd fmla="val 17601" name="adj"/>
            </a:avLst>
          </a:prstGeom>
          <a:noFill/>
          <a:ln>
            <a:noFill/>
          </a:ln>
        </p:spPr>
      </p:sp>
      <p:sp>
        <p:nvSpPr>
          <p:cNvPr id="191" name="Google Shape;191;p22"/>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2" name="Google Shape;192;p22"/>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3" name="Google Shape;193;p22"/>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4" name="Google Shape;194;p22"/>
          <p:cNvSpPr/>
          <p:nvPr>
            <p:ph idx="15" type="pic"/>
          </p:nvPr>
        </p:nvSpPr>
        <p:spPr>
          <a:xfrm>
            <a:off x="4816900" y="1896600"/>
            <a:ext cx="665400" cy="685500"/>
          </a:xfrm>
          <a:prstGeom prst="roundRect">
            <a:avLst>
              <a:gd fmla="val 17601" name="adj"/>
            </a:avLst>
          </a:prstGeom>
          <a:noFill/>
          <a:ln>
            <a:noFill/>
          </a:ln>
        </p:spPr>
      </p:sp>
      <p:sp>
        <p:nvSpPr>
          <p:cNvPr id="195" name="Google Shape;195;p22"/>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96" name="Google Shape;196;p22"/>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97" name="Google Shape;197;p22"/>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98" name="Google Shape;198;p22"/>
          <p:cNvSpPr/>
          <p:nvPr>
            <p:ph idx="19" type="pic"/>
          </p:nvPr>
        </p:nvSpPr>
        <p:spPr>
          <a:xfrm>
            <a:off x="7012000" y="1896600"/>
            <a:ext cx="665400" cy="685500"/>
          </a:xfrm>
          <a:prstGeom prst="roundRect">
            <a:avLst>
              <a:gd fmla="val 17601" name="adj"/>
            </a:avLst>
          </a:prstGeom>
          <a:noFill/>
          <a:ln>
            <a:noFill/>
          </a:ln>
        </p:spPr>
      </p:sp>
      <p:sp>
        <p:nvSpPr>
          <p:cNvPr id="199" name="Google Shape;199;p22"/>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00" name="Google Shape;200;p22"/>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1" name="Google Shape;201;p22"/>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02" name="Google Shape;202;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3" name="Google Shape;203;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05" name="Shape 205"/>
        <p:cNvGrpSpPr/>
        <p:nvPr/>
      </p:nvGrpSpPr>
      <p:grpSpPr>
        <a:xfrm>
          <a:off x="0" y="0"/>
          <a:ext cx="0" cy="0"/>
          <a:chOff x="0" y="0"/>
          <a:chExt cx="0" cy="0"/>
        </a:xfrm>
      </p:grpSpPr>
      <p:pic>
        <p:nvPicPr>
          <p:cNvPr descr="Oval black shapes against a shadowy background. " id="206" name="Google Shape;206;p23"/>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07" name="Google Shape;207;p23"/>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08" name="Google Shape;208;p2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9" name="Google Shape;209;p2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0" name="Google Shape;210;p2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11" name="Google Shape;211;p23"/>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12" name="Google Shape;212;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3"/>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23"/>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15" name="Google Shape;215;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17" name="Shape 217"/>
        <p:cNvGrpSpPr/>
        <p:nvPr/>
      </p:nvGrpSpPr>
      <p:grpSpPr>
        <a:xfrm>
          <a:off x="0" y="0"/>
          <a:ext cx="0" cy="0"/>
          <a:chOff x="0" y="0"/>
          <a:chExt cx="0" cy="0"/>
        </a:xfrm>
      </p:grpSpPr>
      <p:sp>
        <p:nvSpPr>
          <p:cNvPr id="218" name="Google Shape;218;p24"/>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19" name="Google Shape;219;p24"/>
          <p:cNvSpPr/>
          <p:nvPr>
            <p:ph idx="2" type="pic"/>
          </p:nvPr>
        </p:nvSpPr>
        <p:spPr>
          <a:xfrm>
            <a:off x="5342000" y="457200"/>
            <a:ext cx="3573300" cy="3995400"/>
          </a:xfrm>
          <a:prstGeom prst="roundRect">
            <a:avLst>
              <a:gd fmla="val 6865" name="adj"/>
            </a:avLst>
          </a:prstGeom>
          <a:noFill/>
          <a:ln>
            <a:noFill/>
          </a:ln>
        </p:spPr>
      </p:sp>
      <p:sp>
        <p:nvSpPr>
          <p:cNvPr id="220" name="Google Shape;220;p24"/>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1" name="Google Shape;221;p2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2" name="Google Shape;222;p2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3" name="Google Shape;223;p24"/>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24" name="Google Shape;224;p24"/>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25" name="Google Shape;22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28" name="Shape 228"/>
        <p:cNvGrpSpPr/>
        <p:nvPr/>
      </p:nvGrpSpPr>
      <p:grpSpPr>
        <a:xfrm>
          <a:off x="0" y="0"/>
          <a:ext cx="0" cy="0"/>
          <a:chOff x="0" y="0"/>
          <a:chExt cx="0" cy="0"/>
        </a:xfrm>
      </p:grpSpPr>
      <p:sp>
        <p:nvSpPr>
          <p:cNvPr id="229" name="Google Shape;229;p25"/>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30" name="Google Shape;230;p25"/>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1" name="Google Shape;231;p25"/>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2" name="Google Shape;232;p25"/>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33" name="Google Shape;233;p25"/>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34" name="Google Shape;234;p25"/>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35" name="Google Shape;235;p25"/>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36" name="Google Shape;236;p25"/>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7" name="Google Shape;237;p25"/>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38" name="Google Shape;238;p25"/>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9" name="Google Shape;239;p25"/>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0" name="Google Shape;240;p25"/>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41" name="Google Shape;241;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25"/>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45" name="Google Shape;245;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47" name="Shape 247"/>
        <p:cNvGrpSpPr/>
        <p:nvPr/>
      </p:nvGrpSpPr>
      <p:grpSpPr>
        <a:xfrm>
          <a:off x="0" y="0"/>
          <a:ext cx="0" cy="0"/>
          <a:chOff x="0" y="0"/>
          <a:chExt cx="0" cy="0"/>
        </a:xfrm>
      </p:grpSpPr>
      <p:sp>
        <p:nvSpPr>
          <p:cNvPr id="248" name="Google Shape;248;p26"/>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49" name="Google Shape;249;p26"/>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26"/>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26"/>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4" name="Google Shape;254;p26"/>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5" name="Google Shape;255;p26"/>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6" name="Google Shape;256;p26"/>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7" name="Google Shape;257;p26"/>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8" name="Google Shape;258;p26"/>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9" name="Google Shape;259;p26"/>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0" name="Google Shape;260;p26"/>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1" name="Google Shape;261;p26"/>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2" name="Google Shape;262;p26"/>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63" name="Google Shape;263;p26"/>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64" name="Google Shape;264;p26"/>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65" name="Google Shape;265;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67"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0" name="Google Shape;270;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1" name="Google Shape;271;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2" name="Google Shape;272;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74" name="Google Shape;274;p27"/>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5" name="Google Shape;275;p27"/>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6" name="Google Shape;276;p27"/>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77" name="Google Shape;277;p27"/>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78" name="Google Shape;278;p27"/>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79" name="Google Shape;279;p27"/>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0" name="Google Shape;280;p27"/>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1" name="Google Shape;281;p27"/>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2" name="Google Shape;282;p27"/>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3" name="Google Shape;283;p27"/>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84" name="Google Shape;284;p27"/>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85" name="Google Shape;285;p27"/>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86" name="Google Shape;286;p27"/>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87" name="Google Shape;287;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89" name="Shape 289"/>
        <p:cNvGrpSpPr/>
        <p:nvPr/>
      </p:nvGrpSpPr>
      <p:grpSpPr>
        <a:xfrm>
          <a:off x="0" y="0"/>
          <a:ext cx="0" cy="0"/>
          <a:chOff x="0" y="0"/>
          <a:chExt cx="0" cy="0"/>
        </a:xfrm>
      </p:grpSpPr>
      <p:sp>
        <p:nvSpPr>
          <p:cNvPr id="290" name="Google Shape;290;p28"/>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91" name="Google Shape;291;p28"/>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92" name="Google Shape;292;p2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3" name="Google Shape;293;p2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5" name="Google Shape;295;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28"/>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97" name="Google Shape;297;p28"/>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98" name="Google Shape;298;p28"/>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99" name="Google Shape;299;p28"/>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00" name="Google Shape;300;p28"/>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01" name="Google Shape;301;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03" name="Shape 303"/>
        <p:cNvGrpSpPr/>
        <p:nvPr/>
      </p:nvGrpSpPr>
      <p:grpSpPr>
        <a:xfrm>
          <a:off x="0" y="0"/>
          <a:ext cx="0" cy="0"/>
          <a:chOff x="0" y="0"/>
          <a:chExt cx="0" cy="0"/>
        </a:xfrm>
      </p:grpSpPr>
      <p:sp>
        <p:nvSpPr>
          <p:cNvPr id="304" name="Google Shape;304;p2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5" name="Google Shape;305;p2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6" name="Google Shape;306;p2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7" name="Google Shape;307;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8" name="Google Shape;308;p29"/>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2" name="Google Shape;312;p29"/>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13" name="Google Shape;313;p29"/>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14" name="Google Shape;314;p29"/>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15" name="Google Shape;315;p29"/>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16" name="Google Shape;316;p29"/>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17" name="Google Shape;317;p29"/>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9"/>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9"/>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0" name="Google Shape;320;p29"/>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21" name="Google Shape;321;p29"/>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24" name="Google Shape;324;p29"/>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25" name="Google Shape;325;p29"/>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26" name="Google Shape;326;p29"/>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7" name="Google Shape;327;p29"/>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8" name="Google Shape;328;p29"/>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29" name="Google Shape;329;p29"/>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30" name="Google Shape;330;p29"/>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31" name="Google Shape;331;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33" name="Shape 333"/>
        <p:cNvGrpSpPr/>
        <p:nvPr/>
      </p:nvGrpSpPr>
      <p:grpSpPr>
        <a:xfrm>
          <a:off x="0" y="0"/>
          <a:ext cx="0" cy="0"/>
          <a:chOff x="0" y="0"/>
          <a:chExt cx="0" cy="0"/>
        </a:xfrm>
      </p:grpSpPr>
      <p:sp>
        <p:nvSpPr>
          <p:cNvPr id="334" name="Google Shape;334;p30"/>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35" name="Google Shape;335;p30"/>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6" name="Google Shape;336;p30"/>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37" name="Google Shape;337;p30"/>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38" name="Google Shape;338;p30"/>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39" name="Google Shape;339;p30"/>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0" name="Google Shape;340;p30"/>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1" name="Google Shape;341;p30"/>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42" name="Google Shape;342;p30"/>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43" name="Google Shape;343;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44" name="Google Shape;344;p30"/>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45" name="Google Shape;345;p30"/>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6" name="Google Shape;346;p30"/>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47" name="Google Shape;347;p30"/>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8" name="Google Shape;348;p30"/>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49" name="Google Shape;349;p30"/>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0" name="Google Shape;350;p30"/>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1" name="Google Shape;351;p30"/>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2" name="Google Shape;352;p30"/>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53" name="Google Shape;353;p30"/>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54" name="Google Shape;354;p30"/>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5" name="Google Shape;355;p30"/>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6" name="Google Shape;356;p30"/>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7" name="Google Shape;357;p30"/>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58" name="Google Shape;358;p30"/>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61" name="Shape 361"/>
        <p:cNvGrpSpPr/>
        <p:nvPr/>
      </p:nvGrpSpPr>
      <p:grpSpPr>
        <a:xfrm>
          <a:off x="0" y="0"/>
          <a:ext cx="0" cy="0"/>
          <a:chOff x="0" y="0"/>
          <a:chExt cx="0" cy="0"/>
        </a:xfrm>
      </p:grpSpPr>
      <p:sp>
        <p:nvSpPr>
          <p:cNvPr id="362" name="Google Shape;362;p31"/>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3" name="Google Shape;363;p31"/>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5" name="Google Shape;365;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6" name="Google Shape;366;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68" name="Google Shape;368;p31"/>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31"/>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0" name="Google Shape;370;p31"/>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31"/>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2" name="Google Shape;372;p31"/>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73" name="Google Shape;373;p31"/>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74" name="Google Shape;374;p31"/>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5" name="Google Shape;375;p31"/>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6" name="Google Shape;376;p31"/>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77" name="Google Shape;377;p31"/>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8" name="Shape 378"/>
        <p:cNvGrpSpPr/>
        <p:nvPr/>
      </p:nvGrpSpPr>
      <p:grpSpPr>
        <a:xfrm>
          <a:off x="0" y="0"/>
          <a:ext cx="0" cy="0"/>
          <a:chOff x="0" y="0"/>
          <a:chExt cx="0" cy="0"/>
        </a:xfrm>
      </p:grpSpPr>
      <p:sp>
        <p:nvSpPr>
          <p:cNvPr id="379" name="Google Shape;379;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0" name="Google Shape;380;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1" name="Shape 381"/>
        <p:cNvGrpSpPr/>
        <p:nvPr/>
      </p:nvGrpSpPr>
      <p:grpSpPr>
        <a:xfrm>
          <a:off x="0" y="0"/>
          <a:ext cx="0" cy="0"/>
          <a:chOff x="0" y="0"/>
          <a:chExt cx="0" cy="0"/>
        </a:xfrm>
      </p:grpSpPr>
      <p:sp>
        <p:nvSpPr>
          <p:cNvPr id="382" name="Google Shape;382;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3" name="Shape 383"/>
        <p:cNvGrpSpPr/>
        <p:nvPr/>
      </p:nvGrpSpPr>
      <p:grpSpPr>
        <a:xfrm>
          <a:off x="0" y="0"/>
          <a:ext cx="0" cy="0"/>
          <a:chOff x="0" y="0"/>
          <a:chExt cx="0" cy="0"/>
        </a:xfrm>
      </p:grpSpPr>
      <p:sp>
        <p:nvSpPr>
          <p:cNvPr id="384" name="Google Shape;38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6" name="Shape 386"/>
        <p:cNvGrpSpPr/>
        <p:nvPr/>
      </p:nvGrpSpPr>
      <p:grpSpPr>
        <a:xfrm>
          <a:off x="0" y="0"/>
          <a:ext cx="0" cy="0"/>
          <a:chOff x="0" y="0"/>
          <a:chExt cx="0" cy="0"/>
        </a:xfrm>
      </p:grpSpPr>
      <p:sp>
        <p:nvSpPr>
          <p:cNvPr id="387" name="Google Shape;38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3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0" name="Shape 390"/>
        <p:cNvGrpSpPr/>
        <p:nvPr/>
      </p:nvGrpSpPr>
      <p:grpSpPr>
        <a:xfrm>
          <a:off x="0" y="0"/>
          <a:ext cx="0" cy="0"/>
          <a:chOff x="0" y="0"/>
          <a:chExt cx="0" cy="0"/>
        </a:xfrm>
      </p:grpSpPr>
      <p:sp>
        <p:nvSpPr>
          <p:cNvPr id="391" name="Google Shape;3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2" name="Shape 392"/>
        <p:cNvGrpSpPr/>
        <p:nvPr/>
      </p:nvGrpSpPr>
      <p:grpSpPr>
        <a:xfrm>
          <a:off x="0" y="0"/>
          <a:ext cx="0" cy="0"/>
          <a:chOff x="0" y="0"/>
          <a:chExt cx="0" cy="0"/>
        </a:xfrm>
      </p:grpSpPr>
      <p:sp>
        <p:nvSpPr>
          <p:cNvPr id="393" name="Google Shape;393;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4" name="Google Shape;394;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5" name="Shape 395"/>
        <p:cNvGrpSpPr/>
        <p:nvPr/>
      </p:nvGrpSpPr>
      <p:grpSpPr>
        <a:xfrm>
          <a:off x="0" y="0"/>
          <a:ext cx="0" cy="0"/>
          <a:chOff x="0" y="0"/>
          <a:chExt cx="0" cy="0"/>
        </a:xfrm>
      </p:grpSpPr>
      <p:sp>
        <p:nvSpPr>
          <p:cNvPr id="396" name="Google Shape;396;p3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7" name="Shape 397"/>
        <p:cNvGrpSpPr/>
        <p:nvPr/>
      </p:nvGrpSpPr>
      <p:grpSpPr>
        <a:xfrm>
          <a:off x="0" y="0"/>
          <a:ext cx="0" cy="0"/>
          <a:chOff x="0" y="0"/>
          <a:chExt cx="0" cy="0"/>
        </a:xfrm>
      </p:grpSpPr>
      <p:sp>
        <p:nvSpPr>
          <p:cNvPr id="398" name="Google Shape;398;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9" name="Google Shape;399;p3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0" name="Google Shape;400;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1" name="Shape 401"/>
        <p:cNvGrpSpPr/>
        <p:nvPr/>
      </p:nvGrpSpPr>
      <p:grpSpPr>
        <a:xfrm>
          <a:off x="0" y="0"/>
          <a:ext cx="0" cy="0"/>
          <a:chOff x="0" y="0"/>
          <a:chExt cx="0" cy="0"/>
        </a:xfrm>
      </p:grpSpPr>
      <p:sp>
        <p:nvSpPr>
          <p:cNvPr id="402" name="Google Shape;402;p4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3" name="Shape 403"/>
        <p:cNvGrpSpPr/>
        <p:nvPr/>
      </p:nvGrpSpPr>
      <p:grpSpPr>
        <a:xfrm>
          <a:off x="0" y="0"/>
          <a:ext cx="0" cy="0"/>
          <a:chOff x="0" y="0"/>
          <a:chExt cx="0" cy="0"/>
        </a:xfrm>
      </p:grpSpPr>
      <p:sp>
        <p:nvSpPr>
          <p:cNvPr id="404" name="Google Shape;404;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6"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7" name="Shape 407"/>
        <p:cNvGrpSpPr/>
        <p:nvPr/>
      </p:nvGrpSpPr>
      <p:grpSpPr>
        <a:xfrm>
          <a:off x="0" y="0"/>
          <a:ext cx="0" cy="0"/>
          <a:chOff x="0" y="0"/>
          <a:chExt cx="0" cy="0"/>
        </a:xfrm>
      </p:grpSpPr>
      <p:sp>
        <p:nvSpPr>
          <p:cNvPr id="408" name="Google Shape;408;p4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4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4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5" name="Shape 415"/>
        <p:cNvGrpSpPr/>
        <p:nvPr/>
      </p:nvGrpSpPr>
      <p:grpSpPr>
        <a:xfrm>
          <a:off x="0" y="0"/>
          <a:ext cx="0" cy="0"/>
          <a:chOff x="0" y="0"/>
          <a:chExt cx="0" cy="0"/>
        </a:xfrm>
      </p:grpSpPr>
      <p:sp>
        <p:nvSpPr>
          <p:cNvPr id="416" name="Google Shape;41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4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8" name="Google Shape;418;p4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9" name="Shape 419"/>
        <p:cNvGrpSpPr/>
        <p:nvPr/>
      </p:nvGrpSpPr>
      <p:grpSpPr>
        <a:xfrm>
          <a:off x="0" y="0"/>
          <a:ext cx="0" cy="0"/>
          <a:chOff x="0" y="0"/>
          <a:chExt cx="0" cy="0"/>
        </a:xfrm>
      </p:grpSpPr>
      <p:sp>
        <p:nvSpPr>
          <p:cNvPr id="420" name="Google Shape;420;p4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1" name="Google Shape;421;p4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2" name="Google Shape;422;p4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4" name="Google Shape;424;p4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5" name="Shape 425"/>
        <p:cNvGrpSpPr/>
        <p:nvPr/>
      </p:nvGrpSpPr>
      <p:grpSpPr>
        <a:xfrm>
          <a:off x="0" y="0"/>
          <a:ext cx="0" cy="0"/>
          <a:chOff x="0" y="0"/>
          <a:chExt cx="0" cy="0"/>
        </a:xfrm>
      </p:grpSpPr>
      <p:sp>
        <p:nvSpPr>
          <p:cNvPr id="426" name="Google Shape;426;p4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7" name="Google Shape;427;p4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4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3" name="Shape 433"/>
        <p:cNvGrpSpPr/>
        <p:nvPr/>
      </p:nvGrpSpPr>
      <p:grpSpPr>
        <a:xfrm>
          <a:off x="0" y="0"/>
          <a:ext cx="0" cy="0"/>
          <a:chOff x="0" y="0"/>
          <a:chExt cx="0" cy="0"/>
        </a:xfrm>
      </p:grpSpPr>
      <p:sp>
        <p:nvSpPr>
          <p:cNvPr id="434" name="Google Shape;434;p4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5" name="Google Shape;435;p4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4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4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0" name="Google Shape;440;p4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4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4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3" name="Shape 443"/>
        <p:cNvGrpSpPr/>
        <p:nvPr/>
      </p:nvGrpSpPr>
      <p:grpSpPr>
        <a:xfrm>
          <a:off x="0" y="0"/>
          <a:ext cx="0" cy="0"/>
          <a:chOff x="0" y="0"/>
          <a:chExt cx="0" cy="0"/>
        </a:xfrm>
      </p:grpSpPr>
      <p:sp>
        <p:nvSpPr>
          <p:cNvPr id="444" name="Google Shape;44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5" name="Google Shape;445;p4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6" name="Shape 446"/>
        <p:cNvGrpSpPr/>
        <p:nvPr/>
      </p:nvGrpSpPr>
      <p:grpSpPr>
        <a:xfrm>
          <a:off x="0" y="0"/>
          <a:ext cx="0" cy="0"/>
          <a:chOff x="0" y="0"/>
          <a:chExt cx="0" cy="0"/>
        </a:xfrm>
      </p:grpSpPr>
      <p:sp>
        <p:nvSpPr>
          <p:cNvPr id="447" name="Google Shape;447;p4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9"/>
          <p:cNvSpPr/>
          <p:nvPr>
            <p:ph idx="2" type="pic"/>
          </p:nvPr>
        </p:nvSpPr>
        <p:spPr>
          <a:xfrm>
            <a:off x="4804825" y="1133300"/>
            <a:ext cx="4027500" cy="2392800"/>
          </a:xfrm>
          <a:prstGeom prst="rect">
            <a:avLst/>
          </a:prstGeom>
          <a:noFill/>
          <a:ln>
            <a:noFill/>
          </a:ln>
        </p:spPr>
      </p:sp>
      <p:sp>
        <p:nvSpPr>
          <p:cNvPr id="449" name="Google Shape;449;p49"/>
          <p:cNvSpPr/>
          <p:nvPr>
            <p:ph idx="3" type="pic"/>
          </p:nvPr>
        </p:nvSpPr>
        <p:spPr>
          <a:xfrm>
            <a:off x="311725" y="1133300"/>
            <a:ext cx="4027500" cy="2392800"/>
          </a:xfrm>
          <a:prstGeom prst="rect">
            <a:avLst/>
          </a:prstGeom>
          <a:noFill/>
          <a:ln>
            <a:noFill/>
          </a:ln>
        </p:spPr>
      </p:sp>
      <p:sp>
        <p:nvSpPr>
          <p:cNvPr id="450" name="Google Shape;450;p4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4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4" name="Shape 454"/>
        <p:cNvGrpSpPr/>
        <p:nvPr/>
      </p:nvGrpSpPr>
      <p:grpSpPr>
        <a:xfrm>
          <a:off x="0" y="0"/>
          <a:ext cx="0" cy="0"/>
          <a:chOff x="0" y="0"/>
          <a:chExt cx="0" cy="0"/>
        </a:xfrm>
      </p:grpSpPr>
      <p:sp>
        <p:nvSpPr>
          <p:cNvPr id="455" name="Google Shape;455;p5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6" name="Google Shape;456;p50"/>
          <p:cNvSpPr/>
          <p:nvPr>
            <p:ph idx="2" type="pic"/>
          </p:nvPr>
        </p:nvSpPr>
        <p:spPr>
          <a:xfrm>
            <a:off x="6205225" y="1128325"/>
            <a:ext cx="2627100" cy="2273100"/>
          </a:xfrm>
          <a:prstGeom prst="rect">
            <a:avLst/>
          </a:prstGeom>
          <a:noFill/>
          <a:ln>
            <a:noFill/>
          </a:ln>
        </p:spPr>
      </p:sp>
      <p:sp>
        <p:nvSpPr>
          <p:cNvPr id="457" name="Google Shape;457;p50"/>
          <p:cNvSpPr/>
          <p:nvPr>
            <p:ph idx="3" type="pic"/>
          </p:nvPr>
        </p:nvSpPr>
        <p:spPr>
          <a:xfrm>
            <a:off x="311725" y="1128325"/>
            <a:ext cx="2627100" cy="2273100"/>
          </a:xfrm>
          <a:prstGeom prst="rect">
            <a:avLst/>
          </a:prstGeom>
          <a:noFill/>
          <a:ln>
            <a:noFill/>
          </a:ln>
        </p:spPr>
      </p:sp>
      <p:sp>
        <p:nvSpPr>
          <p:cNvPr id="458" name="Google Shape;458;p5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50"/>
          <p:cNvSpPr/>
          <p:nvPr>
            <p:ph idx="5" type="pic"/>
          </p:nvPr>
        </p:nvSpPr>
        <p:spPr>
          <a:xfrm>
            <a:off x="3255250" y="1128325"/>
            <a:ext cx="2627100" cy="2273100"/>
          </a:xfrm>
          <a:prstGeom prst="rect">
            <a:avLst/>
          </a:prstGeom>
          <a:noFill/>
          <a:ln>
            <a:noFill/>
          </a:ln>
        </p:spPr>
      </p:sp>
      <p:sp>
        <p:nvSpPr>
          <p:cNvPr id="460" name="Google Shape;460;p5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5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3" name="Google Shape;463;p5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5" name="Shape 465"/>
        <p:cNvGrpSpPr/>
        <p:nvPr/>
      </p:nvGrpSpPr>
      <p:grpSpPr>
        <a:xfrm>
          <a:off x="0" y="0"/>
          <a:ext cx="0" cy="0"/>
          <a:chOff x="0" y="0"/>
          <a:chExt cx="0" cy="0"/>
        </a:xfrm>
      </p:grpSpPr>
      <p:sp>
        <p:nvSpPr>
          <p:cNvPr id="466" name="Google Shape;466;p5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7" name="Shape 467"/>
        <p:cNvGrpSpPr/>
        <p:nvPr/>
      </p:nvGrpSpPr>
      <p:grpSpPr>
        <a:xfrm>
          <a:off x="0" y="0"/>
          <a:ext cx="0" cy="0"/>
          <a:chOff x="0" y="0"/>
          <a:chExt cx="0" cy="0"/>
        </a:xfrm>
      </p:grpSpPr>
      <p:sp>
        <p:nvSpPr>
          <p:cNvPr id="468" name="Google Shape;468;p52"/>
          <p:cNvSpPr/>
          <p:nvPr>
            <p:ph idx="2" type="pic"/>
          </p:nvPr>
        </p:nvSpPr>
        <p:spPr>
          <a:xfrm>
            <a:off x="3389600" y="118913"/>
            <a:ext cx="1643700" cy="1535100"/>
          </a:xfrm>
          <a:prstGeom prst="rect">
            <a:avLst/>
          </a:prstGeom>
          <a:noFill/>
          <a:ln>
            <a:noFill/>
          </a:ln>
        </p:spPr>
      </p:sp>
      <p:sp>
        <p:nvSpPr>
          <p:cNvPr id="469" name="Google Shape;469;p52"/>
          <p:cNvSpPr/>
          <p:nvPr>
            <p:ph idx="3" type="pic"/>
          </p:nvPr>
        </p:nvSpPr>
        <p:spPr>
          <a:xfrm>
            <a:off x="5195935" y="118913"/>
            <a:ext cx="1643700" cy="1535100"/>
          </a:xfrm>
          <a:prstGeom prst="rect">
            <a:avLst/>
          </a:prstGeom>
          <a:noFill/>
          <a:ln>
            <a:noFill/>
          </a:ln>
        </p:spPr>
      </p:sp>
      <p:sp>
        <p:nvSpPr>
          <p:cNvPr id="470" name="Google Shape;470;p52"/>
          <p:cNvSpPr/>
          <p:nvPr>
            <p:ph idx="4" type="pic"/>
          </p:nvPr>
        </p:nvSpPr>
        <p:spPr>
          <a:xfrm>
            <a:off x="7002270" y="118913"/>
            <a:ext cx="1643700" cy="1535100"/>
          </a:xfrm>
          <a:prstGeom prst="rect">
            <a:avLst/>
          </a:prstGeom>
          <a:noFill/>
          <a:ln>
            <a:noFill/>
          </a:ln>
        </p:spPr>
      </p:sp>
      <p:sp>
        <p:nvSpPr>
          <p:cNvPr id="471" name="Google Shape;471;p52"/>
          <p:cNvSpPr/>
          <p:nvPr>
            <p:ph idx="5" type="pic"/>
          </p:nvPr>
        </p:nvSpPr>
        <p:spPr>
          <a:xfrm>
            <a:off x="3389588" y="1804212"/>
            <a:ext cx="1643700" cy="1535100"/>
          </a:xfrm>
          <a:prstGeom prst="rect">
            <a:avLst/>
          </a:prstGeom>
          <a:noFill/>
          <a:ln>
            <a:noFill/>
          </a:ln>
        </p:spPr>
      </p:sp>
      <p:sp>
        <p:nvSpPr>
          <p:cNvPr id="472" name="Google Shape;472;p52"/>
          <p:cNvSpPr/>
          <p:nvPr>
            <p:ph idx="6" type="pic"/>
          </p:nvPr>
        </p:nvSpPr>
        <p:spPr>
          <a:xfrm>
            <a:off x="5195922" y="1804212"/>
            <a:ext cx="1643700" cy="1535100"/>
          </a:xfrm>
          <a:prstGeom prst="rect">
            <a:avLst/>
          </a:prstGeom>
          <a:noFill/>
          <a:ln>
            <a:noFill/>
          </a:ln>
        </p:spPr>
      </p:sp>
      <p:sp>
        <p:nvSpPr>
          <p:cNvPr id="473" name="Google Shape;473;p52"/>
          <p:cNvSpPr/>
          <p:nvPr>
            <p:ph idx="7" type="pic"/>
          </p:nvPr>
        </p:nvSpPr>
        <p:spPr>
          <a:xfrm>
            <a:off x="7002257" y="1804212"/>
            <a:ext cx="1643700" cy="1535100"/>
          </a:xfrm>
          <a:prstGeom prst="rect">
            <a:avLst/>
          </a:prstGeom>
          <a:noFill/>
          <a:ln>
            <a:noFill/>
          </a:ln>
        </p:spPr>
      </p:sp>
      <p:sp>
        <p:nvSpPr>
          <p:cNvPr id="474" name="Google Shape;474;p5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2"/>
          <p:cNvSpPr/>
          <p:nvPr>
            <p:ph idx="8" type="pic"/>
          </p:nvPr>
        </p:nvSpPr>
        <p:spPr>
          <a:xfrm>
            <a:off x="3389588" y="3489487"/>
            <a:ext cx="1643700" cy="1535100"/>
          </a:xfrm>
          <a:prstGeom prst="rect">
            <a:avLst/>
          </a:prstGeom>
          <a:noFill/>
          <a:ln>
            <a:noFill/>
          </a:ln>
        </p:spPr>
      </p:sp>
      <p:sp>
        <p:nvSpPr>
          <p:cNvPr id="476" name="Google Shape;476;p52"/>
          <p:cNvSpPr/>
          <p:nvPr>
            <p:ph idx="9" type="pic"/>
          </p:nvPr>
        </p:nvSpPr>
        <p:spPr>
          <a:xfrm>
            <a:off x="5195922" y="3489487"/>
            <a:ext cx="1643700" cy="1535100"/>
          </a:xfrm>
          <a:prstGeom prst="rect">
            <a:avLst/>
          </a:prstGeom>
          <a:noFill/>
          <a:ln>
            <a:noFill/>
          </a:ln>
        </p:spPr>
      </p:sp>
      <p:sp>
        <p:nvSpPr>
          <p:cNvPr id="477" name="Google Shape;477;p5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52" name="Google Shape;52;p13"/>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53" name="Google Shape;53;p13"/>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hyperlink" Target="https://www.pewresearch.org/short-reads/2023/08/03/almost-1-in-5-stay-at-home-parents-in-the-us-are-dads/" TargetMode="Externa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grpSp>
        <p:nvGrpSpPr>
          <p:cNvPr id="482" name="Google Shape;482;p53"/>
          <p:cNvGrpSpPr/>
          <p:nvPr/>
        </p:nvGrpSpPr>
        <p:grpSpPr>
          <a:xfrm>
            <a:off x="228591" y="3127350"/>
            <a:ext cx="233094" cy="233094"/>
            <a:chOff x="259788" y="1923155"/>
            <a:chExt cx="409800" cy="409800"/>
          </a:xfrm>
        </p:grpSpPr>
        <p:sp>
          <p:nvSpPr>
            <p:cNvPr id="483" name="Google Shape;483;p53"/>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84" name="Google Shape;484;p53"/>
            <p:cNvGrpSpPr/>
            <p:nvPr/>
          </p:nvGrpSpPr>
          <p:grpSpPr>
            <a:xfrm>
              <a:off x="362088" y="2093825"/>
              <a:ext cx="205200" cy="102600"/>
              <a:chOff x="498725" y="2069800"/>
              <a:chExt cx="205200" cy="102600"/>
            </a:xfrm>
          </p:grpSpPr>
          <p:cxnSp>
            <p:nvCxnSpPr>
              <p:cNvPr id="485" name="Google Shape;485;p53"/>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86" name="Google Shape;486;p53"/>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87" name="Google Shape;487;p53"/>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Understanding Childcare Affordability in the U.S.</a:t>
            </a:r>
            <a:endParaRPr>
              <a:solidFill>
                <a:schemeClr val="lt1"/>
              </a:solidFill>
            </a:endParaRPr>
          </a:p>
        </p:txBody>
      </p:sp>
      <p:sp>
        <p:nvSpPr>
          <p:cNvPr id="488" name="Google Shape;488;p53"/>
          <p:cNvSpPr txBox="1"/>
          <p:nvPr>
            <p:ph idx="1" type="subTitle"/>
          </p:nvPr>
        </p:nvSpPr>
        <p:spPr>
          <a:xfrm>
            <a:off x="228600" y="2261475"/>
            <a:ext cx="83385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A Data-Driven Look at Center-Based vs. Family-Based Pricing (2008–2022)</a:t>
            </a:r>
            <a:endParaRPr>
              <a:solidFill>
                <a:schemeClr val="lt1"/>
              </a:solidFill>
              <a:latin typeface="Urbanist Medium"/>
              <a:ea typeface="Urbanist Medium"/>
              <a:cs typeface="Urbanist Medium"/>
              <a:sym typeface="Urbanist Medium"/>
            </a:endParaRPr>
          </a:p>
        </p:txBody>
      </p:sp>
      <p:sp>
        <p:nvSpPr>
          <p:cNvPr id="489" name="Google Shape;489;p5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Bellevue University</a:t>
            </a:r>
            <a:endParaRPr/>
          </a:p>
        </p:txBody>
      </p:sp>
      <p:sp>
        <p:nvSpPr>
          <p:cNvPr id="490" name="Google Shape;490;p5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Summer Term</a:t>
            </a:r>
            <a:endParaRPr/>
          </a:p>
        </p:txBody>
      </p:sp>
      <p:sp>
        <p:nvSpPr>
          <p:cNvPr id="491" name="Google Shape;491;p5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2025</a:t>
            </a:r>
            <a:endParaRPr/>
          </a:p>
        </p:txBody>
      </p:sp>
      <p:sp>
        <p:nvSpPr>
          <p:cNvPr id="492" name="Google Shape;492;p53"/>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August, 2025</a:t>
            </a:r>
            <a:endParaRPr/>
          </a:p>
          <a:p>
            <a:pPr indent="0" lvl="0" marL="0" rtl="0" algn="l">
              <a:spcBef>
                <a:spcPts val="0"/>
              </a:spcBef>
              <a:spcAft>
                <a:spcPts val="0"/>
              </a:spcAft>
              <a:buNone/>
            </a:pPr>
            <a:r>
              <a:t/>
            </a:r>
            <a:endParaRPr/>
          </a:p>
        </p:txBody>
      </p:sp>
      <p:sp>
        <p:nvSpPr>
          <p:cNvPr id="493" name="Google Shape;493;p53"/>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 Zicheng (Chance) Xu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4"/>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99" name="Google Shape;499;p54"/>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0" name="Google Shape;500;p54"/>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1" name="Google Shape;501;p54"/>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2" name="Google Shape;502;p54"/>
          <p:cNvSpPr/>
          <p:nvPr/>
        </p:nvSpPr>
        <p:spPr>
          <a:xfrm>
            <a:off x="4618950" y="2939750"/>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03" name="Google Shape;503;p54"/>
          <p:cNvSpPr/>
          <p:nvPr/>
        </p:nvSpPr>
        <p:spPr>
          <a:xfrm>
            <a:off x="4618950" y="3617525"/>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04" name="Google Shape;504;p54"/>
          <p:cNvGrpSpPr/>
          <p:nvPr/>
        </p:nvGrpSpPr>
        <p:grpSpPr>
          <a:xfrm rot="-5400000">
            <a:off x="8556505" y="430775"/>
            <a:ext cx="204654" cy="204654"/>
            <a:chOff x="259788" y="1923155"/>
            <a:chExt cx="409800" cy="409800"/>
          </a:xfrm>
        </p:grpSpPr>
        <p:sp>
          <p:nvSpPr>
            <p:cNvPr id="505" name="Google Shape;505;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06" name="Google Shape;506;p54"/>
            <p:cNvGrpSpPr/>
            <p:nvPr/>
          </p:nvGrpSpPr>
          <p:grpSpPr>
            <a:xfrm>
              <a:off x="362088" y="2093825"/>
              <a:ext cx="205200" cy="102600"/>
              <a:chOff x="498725" y="2069800"/>
              <a:chExt cx="205200" cy="102600"/>
            </a:xfrm>
          </p:grpSpPr>
          <p:cxnSp>
            <p:nvCxnSpPr>
              <p:cNvPr id="507" name="Google Shape;507;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09" name="Google Shape;509;p54"/>
          <p:cNvGrpSpPr/>
          <p:nvPr/>
        </p:nvGrpSpPr>
        <p:grpSpPr>
          <a:xfrm rot="-5400000">
            <a:off x="8556505" y="1108560"/>
            <a:ext cx="204654" cy="204654"/>
            <a:chOff x="259788" y="1923155"/>
            <a:chExt cx="409800" cy="409800"/>
          </a:xfrm>
        </p:grpSpPr>
        <p:sp>
          <p:nvSpPr>
            <p:cNvPr id="510" name="Google Shape;510;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11" name="Google Shape;511;p54"/>
            <p:cNvGrpSpPr/>
            <p:nvPr/>
          </p:nvGrpSpPr>
          <p:grpSpPr>
            <a:xfrm>
              <a:off x="362088" y="2093825"/>
              <a:ext cx="205200" cy="102600"/>
              <a:chOff x="498725" y="2069800"/>
              <a:chExt cx="205200" cy="102600"/>
            </a:xfrm>
          </p:grpSpPr>
          <p:cxnSp>
            <p:nvCxnSpPr>
              <p:cNvPr id="512" name="Google Shape;512;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13" name="Google Shape;513;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14" name="Google Shape;514;p54"/>
          <p:cNvGrpSpPr/>
          <p:nvPr/>
        </p:nvGrpSpPr>
        <p:grpSpPr>
          <a:xfrm rot="-5400000">
            <a:off x="8556505" y="1786345"/>
            <a:ext cx="204654" cy="204654"/>
            <a:chOff x="259788" y="1923155"/>
            <a:chExt cx="409800" cy="409800"/>
          </a:xfrm>
        </p:grpSpPr>
        <p:sp>
          <p:nvSpPr>
            <p:cNvPr id="515" name="Google Shape;515;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16" name="Google Shape;516;p54"/>
            <p:cNvGrpSpPr/>
            <p:nvPr/>
          </p:nvGrpSpPr>
          <p:grpSpPr>
            <a:xfrm>
              <a:off x="362088" y="2093825"/>
              <a:ext cx="205200" cy="102600"/>
              <a:chOff x="498725" y="2069800"/>
              <a:chExt cx="205200" cy="102600"/>
            </a:xfrm>
          </p:grpSpPr>
          <p:cxnSp>
            <p:nvCxnSpPr>
              <p:cNvPr id="517" name="Google Shape;517;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19" name="Google Shape;519;p54"/>
          <p:cNvGrpSpPr/>
          <p:nvPr/>
        </p:nvGrpSpPr>
        <p:grpSpPr>
          <a:xfrm rot="-5400000">
            <a:off x="8556505" y="2464130"/>
            <a:ext cx="204654" cy="204654"/>
            <a:chOff x="259788" y="1923155"/>
            <a:chExt cx="409800" cy="409800"/>
          </a:xfrm>
        </p:grpSpPr>
        <p:sp>
          <p:nvSpPr>
            <p:cNvPr id="520" name="Google Shape;520;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21" name="Google Shape;521;p54"/>
            <p:cNvGrpSpPr/>
            <p:nvPr/>
          </p:nvGrpSpPr>
          <p:grpSpPr>
            <a:xfrm>
              <a:off x="362088" y="2093825"/>
              <a:ext cx="205200" cy="102600"/>
              <a:chOff x="498725" y="2069800"/>
              <a:chExt cx="205200" cy="102600"/>
            </a:xfrm>
          </p:grpSpPr>
          <p:cxnSp>
            <p:nvCxnSpPr>
              <p:cNvPr id="522" name="Google Shape;522;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24" name="Google Shape;524;p54"/>
          <p:cNvGrpSpPr/>
          <p:nvPr/>
        </p:nvGrpSpPr>
        <p:grpSpPr>
          <a:xfrm rot="-5400000">
            <a:off x="8556505" y="3141915"/>
            <a:ext cx="204654" cy="204654"/>
            <a:chOff x="259788" y="1923155"/>
            <a:chExt cx="409800" cy="409800"/>
          </a:xfrm>
        </p:grpSpPr>
        <p:sp>
          <p:nvSpPr>
            <p:cNvPr id="525" name="Google Shape;525;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26" name="Google Shape;526;p54"/>
            <p:cNvGrpSpPr/>
            <p:nvPr/>
          </p:nvGrpSpPr>
          <p:grpSpPr>
            <a:xfrm>
              <a:off x="362088" y="2093825"/>
              <a:ext cx="205200" cy="102600"/>
              <a:chOff x="498725" y="2069800"/>
              <a:chExt cx="205200" cy="102600"/>
            </a:xfrm>
          </p:grpSpPr>
          <p:cxnSp>
            <p:nvCxnSpPr>
              <p:cNvPr id="527" name="Google Shape;527;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29" name="Google Shape;529;p54"/>
          <p:cNvGrpSpPr/>
          <p:nvPr/>
        </p:nvGrpSpPr>
        <p:grpSpPr>
          <a:xfrm rot="-5400000">
            <a:off x="8556505" y="3819700"/>
            <a:ext cx="204654" cy="204654"/>
            <a:chOff x="259788" y="1923155"/>
            <a:chExt cx="409800" cy="409800"/>
          </a:xfrm>
        </p:grpSpPr>
        <p:sp>
          <p:nvSpPr>
            <p:cNvPr id="530" name="Google Shape;530;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31" name="Google Shape;531;p54"/>
            <p:cNvGrpSpPr/>
            <p:nvPr/>
          </p:nvGrpSpPr>
          <p:grpSpPr>
            <a:xfrm>
              <a:off x="362088" y="2093825"/>
              <a:ext cx="205200" cy="102600"/>
              <a:chOff x="498725" y="2069800"/>
              <a:chExt cx="205200" cy="102600"/>
            </a:xfrm>
          </p:grpSpPr>
          <p:cxnSp>
            <p:nvCxnSpPr>
              <p:cNvPr id="532" name="Google Shape;532;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534" name="Google Shape;534;p54"/>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Content</a:t>
            </a:r>
            <a:endParaRPr/>
          </a:p>
        </p:txBody>
      </p:sp>
      <p:sp>
        <p:nvSpPr>
          <p:cNvPr id="535" name="Google Shape;535;p54"/>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36" name="Google Shape;536;p54"/>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537" name="Google Shape;537;p54"/>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538" name="Google Shape;538;p54"/>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539" name="Google Shape;539;p54"/>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40" name="Google Shape;540;p54"/>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541" name="Google Shape;541;p54"/>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Childcare Cost Trend</a:t>
            </a:r>
            <a:endParaRPr/>
          </a:p>
        </p:txBody>
      </p:sp>
      <p:sp>
        <p:nvSpPr>
          <p:cNvPr id="542" name="Google Shape;542;p54"/>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Childcare Affordability vs Labor Force Participation</a:t>
            </a:r>
            <a:endParaRPr/>
          </a:p>
        </p:txBody>
      </p:sp>
      <p:sp>
        <p:nvSpPr>
          <p:cNvPr id="543" name="Google Shape;543;p54"/>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Regional Cost Disparities</a:t>
            </a:r>
            <a:endParaRPr/>
          </a:p>
        </p:txBody>
      </p:sp>
      <p:sp>
        <p:nvSpPr>
          <p:cNvPr id="544" name="Google Shape;544;p54"/>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Female Childcare Burden by State</a:t>
            </a:r>
            <a:endParaRPr/>
          </a:p>
        </p:txBody>
      </p:sp>
      <p:sp>
        <p:nvSpPr>
          <p:cNvPr id="545" name="Google Shape;545;p54"/>
          <p:cNvSpPr txBox="1"/>
          <p:nvPr>
            <p:ph idx="17" type="subTitle"/>
          </p:nvPr>
        </p:nvSpPr>
        <p:spPr>
          <a:xfrm>
            <a:off x="5067075" y="30966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Female to Male Earnings Ratio Over Time</a:t>
            </a:r>
            <a:endParaRPr/>
          </a:p>
        </p:txBody>
      </p:sp>
      <p:sp>
        <p:nvSpPr>
          <p:cNvPr id="546" name="Google Shape;546;p54"/>
          <p:cNvSpPr txBox="1"/>
          <p:nvPr>
            <p:ph idx="18" type="subTitle"/>
          </p:nvPr>
        </p:nvSpPr>
        <p:spPr>
          <a:xfrm>
            <a:off x="5067075" y="3770931"/>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Family-Care Discounts by Age Group</a:t>
            </a:r>
            <a:endParaRPr/>
          </a:p>
        </p:txBody>
      </p:sp>
      <p:sp>
        <p:nvSpPr>
          <p:cNvPr id="547" name="Google Shape;547;p54"/>
          <p:cNvSpPr/>
          <p:nvPr/>
        </p:nvSpPr>
        <p:spPr>
          <a:xfrm>
            <a:off x="157200" y="4611675"/>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548" name="Google Shape;548;p54"/>
          <p:cNvSpPr/>
          <p:nvPr/>
        </p:nvSpPr>
        <p:spPr>
          <a:xfrm>
            <a:off x="4618950" y="42953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49" name="Google Shape;549;p54"/>
          <p:cNvSpPr txBox="1"/>
          <p:nvPr>
            <p:ph idx="9" type="subTitle"/>
          </p:nvPr>
        </p:nvSpPr>
        <p:spPr>
          <a:xfrm>
            <a:off x="4744575" y="444525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550" name="Google Shape;550;p54"/>
          <p:cNvSpPr txBox="1"/>
          <p:nvPr>
            <p:ph idx="18" type="subTitle"/>
          </p:nvPr>
        </p:nvSpPr>
        <p:spPr>
          <a:xfrm>
            <a:off x="5067075" y="444525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Policy Implications &amp; Recommendations</a:t>
            </a:r>
            <a:endParaRPr/>
          </a:p>
        </p:txBody>
      </p:sp>
      <p:grpSp>
        <p:nvGrpSpPr>
          <p:cNvPr id="551" name="Google Shape;551;p54"/>
          <p:cNvGrpSpPr/>
          <p:nvPr/>
        </p:nvGrpSpPr>
        <p:grpSpPr>
          <a:xfrm rot="-5400000">
            <a:off x="8556505" y="4494175"/>
            <a:ext cx="204654" cy="204654"/>
            <a:chOff x="259788" y="1923155"/>
            <a:chExt cx="409800" cy="409800"/>
          </a:xfrm>
        </p:grpSpPr>
        <p:sp>
          <p:nvSpPr>
            <p:cNvPr id="552" name="Google Shape;552;p5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53" name="Google Shape;553;p54"/>
            <p:cNvGrpSpPr/>
            <p:nvPr/>
          </p:nvGrpSpPr>
          <p:grpSpPr>
            <a:xfrm>
              <a:off x="362088" y="2093825"/>
              <a:ext cx="205200" cy="102600"/>
              <a:chOff x="498725" y="2069800"/>
              <a:chExt cx="205200" cy="102600"/>
            </a:xfrm>
          </p:grpSpPr>
          <p:cxnSp>
            <p:nvCxnSpPr>
              <p:cNvPr id="554" name="Google Shape;554;p5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55" name="Google Shape;555;p5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5"/>
          <p:cNvSpPr txBox="1"/>
          <p:nvPr>
            <p:ph type="title"/>
          </p:nvPr>
        </p:nvSpPr>
        <p:spPr>
          <a:xfrm>
            <a:off x="137400" y="1007850"/>
            <a:ext cx="3233100" cy="24474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Rising costs of childcare, especially in most recent years, at an increasing speed</a:t>
            </a:r>
            <a:endParaRPr sz="1800"/>
          </a:p>
          <a:p>
            <a:pPr indent="-342900" lvl="0" marL="457200" rtl="0" algn="l">
              <a:spcBef>
                <a:spcPts val="0"/>
              </a:spcBef>
              <a:spcAft>
                <a:spcPts val="0"/>
              </a:spcAft>
              <a:buSzPts val="1800"/>
              <a:buChar char="●"/>
            </a:pPr>
            <a:r>
              <a:rPr lang="en" sz="1800"/>
              <a:t>Center-based care is more expensive than family-based</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561" name="Google Shape;561;p55"/>
          <p:cNvPicPr preferRelativeResize="0"/>
          <p:nvPr/>
        </p:nvPicPr>
        <p:blipFill>
          <a:blip r:embed="rId3">
            <a:alphaModFix/>
          </a:blip>
          <a:stretch>
            <a:fillRect/>
          </a:stretch>
        </p:blipFill>
        <p:spPr>
          <a:xfrm>
            <a:off x="3370501" y="1007862"/>
            <a:ext cx="5691249" cy="3355925"/>
          </a:xfrm>
          <a:prstGeom prst="rect">
            <a:avLst/>
          </a:prstGeom>
          <a:noFill/>
          <a:ln>
            <a:noFill/>
          </a:ln>
        </p:spPr>
      </p:pic>
      <p:sp>
        <p:nvSpPr>
          <p:cNvPr id="562" name="Google Shape;562;p55"/>
          <p:cNvSpPr txBox="1"/>
          <p:nvPr/>
        </p:nvSpPr>
        <p:spPr>
          <a:xfrm>
            <a:off x="137400" y="139000"/>
            <a:ext cx="421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Urbanist"/>
                <a:ea typeface="Urbanist"/>
                <a:cs typeface="Urbanist"/>
                <a:sym typeface="Urbanist"/>
              </a:rPr>
              <a:t>Childcare Cost Trend</a:t>
            </a:r>
            <a:endParaRPr b="1" sz="1800">
              <a:solidFill>
                <a:schemeClr val="lt1"/>
              </a:solidFill>
              <a:latin typeface="Urbanist"/>
              <a:ea typeface="Urbanist"/>
              <a:cs typeface="Urbanist"/>
              <a:sym typeface="Urbanist"/>
            </a:endParaRPr>
          </a:p>
        </p:txBody>
      </p:sp>
      <p:sp>
        <p:nvSpPr>
          <p:cNvPr id="563" name="Google Shape;563;p55"/>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6"/>
          <p:cNvSpPr txBox="1"/>
          <p:nvPr>
            <p:ph type="title"/>
          </p:nvPr>
        </p:nvSpPr>
        <p:spPr>
          <a:xfrm>
            <a:off x="137400" y="1007850"/>
            <a:ext cx="3233100" cy="38604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Labor force participation rate has slight negative correlation with Cost-to-income ratio, regardless of gender</a:t>
            </a:r>
            <a:endParaRPr sz="1800"/>
          </a:p>
          <a:p>
            <a:pPr indent="-342900" lvl="0" marL="457200" rtl="0" algn="l">
              <a:spcBef>
                <a:spcPts val="0"/>
              </a:spcBef>
              <a:spcAft>
                <a:spcPts val="0"/>
              </a:spcAft>
              <a:buSzPts val="1800"/>
              <a:buChar char="●"/>
            </a:pPr>
            <a:r>
              <a:rPr lang="en" sz="1800"/>
              <a:t>Females are less sensitive than males to the Cost-to-income ratio, due to much higher percentage of stay-at-home percentage (</a:t>
            </a:r>
            <a:r>
              <a:rPr lang="en" sz="1800"/>
              <a:t>26% females vs 7% males, 2021, </a:t>
            </a:r>
            <a:r>
              <a:rPr lang="en" sz="1800" u="sng">
                <a:solidFill>
                  <a:srgbClr val="FF0000"/>
                </a:solidFill>
                <a:hlinkClick r:id="rId3">
                  <a:extLst>
                    <a:ext uri="{A12FA001-AC4F-418D-AE19-62706E023703}">
                      <ahyp:hlinkClr val="tx"/>
                    </a:ext>
                  </a:extLst>
                </a:hlinkClick>
              </a:rPr>
              <a:t>source</a:t>
            </a:r>
            <a:r>
              <a:rPr lang="en" sz="1800"/>
              <a: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569" name="Google Shape;569;p56"/>
          <p:cNvSpPr txBox="1"/>
          <p:nvPr/>
        </p:nvSpPr>
        <p:spPr>
          <a:xfrm>
            <a:off x="137400" y="139000"/>
            <a:ext cx="6321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latin typeface="Urbanist"/>
                <a:ea typeface="Urbanist"/>
                <a:cs typeface="Urbanist"/>
                <a:sym typeface="Urbanist"/>
              </a:rPr>
              <a:t>Childcare Affordability vs Labor Force Participation</a:t>
            </a:r>
            <a:endParaRPr b="1" sz="1800">
              <a:solidFill>
                <a:schemeClr val="lt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p:txBody>
      </p:sp>
      <p:sp>
        <p:nvSpPr>
          <p:cNvPr id="570" name="Google Shape;570;p56"/>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571" name="Google Shape;571;p56"/>
          <p:cNvPicPr preferRelativeResize="0"/>
          <p:nvPr/>
        </p:nvPicPr>
        <p:blipFill>
          <a:blip r:embed="rId4">
            <a:alphaModFix/>
          </a:blip>
          <a:stretch>
            <a:fillRect/>
          </a:stretch>
        </p:blipFill>
        <p:spPr>
          <a:xfrm>
            <a:off x="3370500" y="1007850"/>
            <a:ext cx="5691250" cy="335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7"/>
          <p:cNvSpPr txBox="1"/>
          <p:nvPr>
            <p:ph type="title"/>
          </p:nvPr>
        </p:nvSpPr>
        <p:spPr>
          <a:xfrm>
            <a:off x="137400" y="1007850"/>
            <a:ext cx="3233100" cy="40959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Data shows color scale of Childcare cost-to-Medium Household Income Ratio</a:t>
            </a:r>
            <a:endParaRPr sz="1800"/>
          </a:p>
          <a:p>
            <a:pPr indent="-342900" lvl="0" marL="457200" rtl="0" algn="l">
              <a:spcBef>
                <a:spcPts val="0"/>
              </a:spcBef>
              <a:spcAft>
                <a:spcPts val="0"/>
              </a:spcAft>
              <a:buSzPts val="1800"/>
              <a:buChar char="●"/>
            </a:pPr>
            <a:r>
              <a:rPr lang="en" sz="1800"/>
              <a:t>The darker the state the costlier the state’s childcare relative to household income</a:t>
            </a:r>
            <a:endParaRPr sz="1800"/>
          </a:p>
          <a:p>
            <a:pPr indent="-342900" lvl="0" marL="457200" rtl="0" algn="l">
              <a:spcBef>
                <a:spcPts val="0"/>
              </a:spcBef>
              <a:spcAft>
                <a:spcPts val="0"/>
              </a:spcAft>
              <a:buSzPts val="1800"/>
              <a:buChar char="●"/>
            </a:pPr>
            <a:r>
              <a:rPr lang="en" sz="1800"/>
              <a:t>Coastal states, Colorado and Puerto Rico have more pricing burdens </a:t>
            </a:r>
            <a:endParaRPr sz="1800"/>
          </a:p>
          <a:p>
            <a:pPr indent="-342900" lvl="0" marL="457200" rtl="0" algn="l">
              <a:spcBef>
                <a:spcPts val="0"/>
              </a:spcBef>
              <a:spcAft>
                <a:spcPts val="0"/>
              </a:spcAft>
              <a:buSzPts val="1800"/>
              <a:buChar char="●"/>
            </a:pPr>
            <a:r>
              <a:rPr lang="en" sz="1800"/>
              <a:t>South Dakota, Iowa, Kansas, Wyoming and Mississippi are the cheapest states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577" name="Google Shape;577;p57"/>
          <p:cNvSpPr txBox="1"/>
          <p:nvPr/>
        </p:nvSpPr>
        <p:spPr>
          <a:xfrm>
            <a:off x="137400" y="139000"/>
            <a:ext cx="421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Urbanist"/>
                <a:ea typeface="Urbanist"/>
                <a:cs typeface="Urbanist"/>
                <a:sym typeface="Urbanist"/>
              </a:rPr>
              <a:t>Regional Cost Disparities</a:t>
            </a:r>
            <a:endParaRPr b="1" sz="1800">
              <a:solidFill>
                <a:schemeClr val="lt1"/>
              </a:solidFill>
              <a:latin typeface="Urbanist"/>
              <a:ea typeface="Urbanist"/>
              <a:cs typeface="Urbanist"/>
              <a:sym typeface="Urbanist"/>
            </a:endParaRPr>
          </a:p>
        </p:txBody>
      </p:sp>
      <p:sp>
        <p:nvSpPr>
          <p:cNvPr id="578" name="Google Shape;578;p57"/>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579" name="Google Shape;579;p57"/>
          <p:cNvPicPr preferRelativeResize="0"/>
          <p:nvPr/>
        </p:nvPicPr>
        <p:blipFill>
          <a:blip r:embed="rId3">
            <a:alphaModFix/>
          </a:blip>
          <a:stretch>
            <a:fillRect/>
          </a:stretch>
        </p:blipFill>
        <p:spPr>
          <a:xfrm>
            <a:off x="3518100" y="1007850"/>
            <a:ext cx="5468699" cy="3521369"/>
          </a:xfrm>
          <a:prstGeom prst="rect">
            <a:avLst/>
          </a:prstGeom>
          <a:noFill/>
          <a:ln>
            <a:noFill/>
          </a:ln>
        </p:spPr>
      </p:pic>
      <p:cxnSp>
        <p:nvCxnSpPr>
          <p:cNvPr id="580" name="Google Shape;580;p57"/>
          <p:cNvCxnSpPr/>
          <p:nvPr/>
        </p:nvCxnSpPr>
        <p:spPr>
          <a:xfrm>
            <a:off x="8537500" y="4170775"/>
            <a:ext cx="203100" cy="160800"/>
          </a:xfrm>
          <a:prstGeom prst="straightConnector1">
            <a:avLst/>
          </a:prstGeom>
          <a:noFill/>
          <a:ln cap="flat" cmpd="sng" w="9525">
            <a:solidFill>
              <a:srgbClr val="FF0000"/>
            </a:solidFill>
            <a:prstDash val="solid"/>
            <a:round/>
            <a:headEnd len="med" w="med" type="none"/>
            <a:tailEnd len="med" w="med" type="triangle"/>
          </a:ln>
        </p:spPr>
      </p:cxnSp>
      <p:sp>
        <p:nvSpPr>
          <p:cNvPr id="581" name="Google Shape;581;p57"/>
          <p:cNvSpPr txBox="1"/>
          <p:nvPr/>
        </p:nvSpPr>
        <p:spPr>
          <a:xfrm>
            <a:off x="7760750" y="3876875"/>
            <a:ext cx="1112700" cy="2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Urbanist"/>
                <a:ea typeface="Urbanist"/>
                <a:cs typeface="Urbanist"/>
                <a:sym typeface="Urbanist"/>
              </a:rPr>
              <a:t>Puerto</a:t>
            </a:r>
            <a:r>
              <a:rPr lang="en" sz="1000">
                <a:solidFill>
                  <a:schemeClr val="dk1"/>
                </a:solidFill>
                <a:latin typeface="Urbanist"/>
                <a:ea typeface="Urbanist"/>
                <a:cs typeface="Urbanist"/>
                <a:sym typeface="Urbanist"/>
              </a:rPr>
              <a:t> Rico</a:t>
            </a:r>
            <a:endParaRPr sz="1000">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8"/>
          <p:cNvSpPr txBox="1"/>
          <p:nvPr>
            <p:ph type="title"/>
          </p:nvPr>
        </p:nvSpPr>
        <p:spPr>
          <a:xfrm>
            <a:off x="137400" y="1007850"/>
            <a:ext cx="3233100" cy="31539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Washington, Massachusetts, and California childcare cost over 40% of annual income for females on average</a:t>
            </a:r>
            <a:endParaRPr sz="1800"/>
          </a:p>
          <a:p>
            <a:pPr indent="-342900" lvl="0" marL="457200" rtl="0" algn="l">
              <a:spcBef>
                <a:spcPts val="0"/>
              </a:spcBef>
              <a:spcAft>
                <a:spcPts val="0"/>
              </a:spcAft>
              <a:buSzPts val="1800"/>
              <a:buChar char="●"/>
            </a:pPr>
            <a:r>
              <a:rPr lang="en" sz="1800"/>
              <a:t>Even the cheapest state Mississippi cost 18% of annual income for females on average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587" name="Google Shape;587;p58"/>
          <p:cNvSpPr txBox="1"/>
          <p:nvPr/>
        </p:nvSpPr>
        <p:spPr>
          <a:xfrm>
            <a:off x="137400" y="139000"/>
            <a:ext cx="476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lt1"/>
                </a:solidFill>
                <a:latin typeface="Urbanist"/>
                <a:ea typeface="Urbanist"/>
                <a:cs typeface="Urbanist"/>
                <a:sym typeface="Urbanist"/>
              </a:rPr>
              <a:t>Female Childcare Burden by State</a:t>
            </a:r>
            <a:endParaRPr b="1" sz="1800">
              <a:solidFill>
                <a:schemeClr val="lt1"/>
              </a:solidFill>
              <a:latin typeface="Urbanist"/>
              <a:ea typeface="Urbanist"/>
              <a:cs typeface="Urbanist"/>
              <a:sym typeface="Urbanist"/>
            </a:endParaRPr>
          </a:p>
          <a:p>
            <a:pPr indent="0" lvl="0" marL="0" rtl="0" algn="l">
              <a:spcBef>
                <a:spcPts val="0"/>
              </a:spcBef>
              <a:spcAft>
                <a:spcPts val="0"/>
              </a:spcAft>
              <a:buClr>
                <a:schemeClr val="dk1"/>
              </a:buClr>
              <a:buSzPts val="1100"/>
              <a:buFont typeface="Arial"/>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p:txBody>
      </p:sp>
      <p:sp>
        <p:nvSpPr>
          <p:cNvPr id="588" name="Google Shape;588;p58"/>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589" name="Google Shape;589;p58"/>
          <p:cNvPicPr preferRelativeResize="0"/>
          <p:nvPr/>
        </p:nvPicPr>
        <p:blipFill>
          <a:blip r:embed="rId3">
            <a:alphaModFix/>
          </a:blip>
          <a:stretch>
            <a:fillRect/>
          </a:stretch>
        </p:blipFill>
        <p:spPr>
          <a:xfrm>
            <a:off x="3370500" y="1007850"/>
            <a:ext cx="5691251" cy="1623400"/>
          </a:xfrm>
          <a:prstGeom prst="rect">
            <a:avLst/>
          </a:prstGeom>
          <a:noFill/>
          <a:ln>
            <a:noFill/>
          </a:ln>
        </p:spPr>
      </p:pic>
      <p:pic>
        <p:nvPicPr>
          <p:cNvPr id="590" name="Google Shape;590;p58"/>
          <p:cNvPicPr preferRelativeResize="0"/>
          <p:nvPr/>
        </p:nvPicPr>
        <p:blipFill>
          <a:blip r:embed="rId4">
            <a:alphaModFix/>
          </a:blip>
          <a:stretch>
            <a:fillRect/>
          </a:stretch>
        </p:blipFill>
        <p:spPr>
          <a:xfrm>
            <a:off x="3370500" y="2631250"/>
            <a:ext cx="5691251" cy="173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9"/>
          <p:cNvSpPr txBox="1"/>
          <p:nvPr>
            <p:ph type="title"/>
          </p:nvPr>
        </p:nvSpPr>
        <p:spPr>
          <a:xfrm>
            <a:off x="137400" y="1007850"/>
            <a:ext cx="3233100" cy="29184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Although females have been making less than males over the studied years on average, the gap is gradually getting narrower, but still with room for improvement to give less price burden to women on childcare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596" name="Google Shape;596;p59"/>
          <p:cNvSpPr txBox="1"/>
          <p:nvPr/>
        </p:nvSpPr>
        <p:spPr>
          <a:xfrm>
            <a:off x="137400" y="139000"/>
            <a:ext cx="4761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Urbanist"/>
                <a:ea typeface="Urbanist"/>
                <a:cs typeface="Urbanist"/>
                <a:sym typeface="Urbanist"/>
              </a:rPr>
              <a:t>Female to Male Earnings Ratio Over Time</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p:txBody>
      </p:sp>
      <p:sp>
        <p:nvSpPr>
          <p:cNvPr id="597" name="Google Shape;597;p59"/>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598" name="Google Shape;598;p59"/>
          <p:cNvPicPr preferRelativeResize="0"/>
          <p:nvPr/>
        </p:nvPicPr>
        <p:blipFill>
          <a:blip r:embed="rId3">
            <a:alphaModFix/>
          </a:blip>
          <a:stretch>
            <a:fillRect/>
          </a:stretch>
        </p:blipFill>
        <p:spPr>
          <a:xfrm>
            <a:off x="3370500" y="1007850"/>
            <a:ext cx="5691250" cy="3355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0"/>
          <p:cNvSpPr txBox="1"/>
          <p:nvPr>
            <p:ph type="title"/>
          </p:nvPr>
        </p:nvSpPr>
        <p:spPr>
          <a:xfrm>
            <a:off x="137400" y="1007850"/>
            <a:ext cx="3233100" cy="4331400"/>
          </a:xfrm>
          <a:prstGeom prst="rect">
            <a:avLst/>
          </a:prstGeom>
        </p:spPr>
        <p:txBody>
          <a:bodyPr anchorCtr="0" anchor="t" bIns="91425" lIns="0" spcFirstLastPara="1" rIns="91425" wrap="square" tIns="0">
            <a:spAutoFit/>
          </a:bodyPr>
          <a:lstStyle/>
          <a:p>
            <a:pPr indent="-342900" lvl="0" marL="457200" rtl="0" algn="l">
              <a:spcBef>
                <a:spcPts val="0"/>
              </a:spcBef>
              <a:spcAft>
                <a:spcPts val="0"/>
              </a:spcAft>
              <a:buSzPts val="1800"/>
              <a:buChar char="●"/>
            </a:pPr>
            <a:r>
              <a:rPr lang="en" sz="1800"/>
              <a:t>There’s a wide pricing gap among the three age groups for family care discount from center care</a:t>
            </a:r>
            <a:endParaRPr sz="1800"/>
          </a:p>
          <a:p>
            <a:pPr indent="-342900" lvl="0" marL="457200" rtl="0" algn="l">
              <a:spcBef>
                <a:spcPts val="0"/>
              </a:spcBef>
              <a:spcAft>
                <a:spcPts val="0"/>
              </a:spcAft>
              <a:buSzPts val="1800"/>
              <a:buChar char="●"/>
            </a:pPr>
            <a:r>
              <a:rPr lang="en" sz="1800"/>
              <a:t>Infants are 0-23 months, Toddler 24-35 months, Preschool 36-60 months</a:t>
            </a:r>
            <a:endParaRPr sz="1800"/>
          </a:p>
          <a:p>
            <a:pPr indent="-342900" lvl="0" marL="457200" rtl="0" algn="l">
              <a:spcBef>
                <a:spcPts val="0"/>
              </a:spcBef>
              <a:spcAft>
                <a:spcPts val="0"/>
              </a:spcAft>
              <a:buSzPts val="1800"/>
              <a:buChar char="●"/>
            </a:pPr>
            <a:r>
              <a:rPr lang="en" sz="1800"/>
              <a:t>Larger discount in infant group encourages families to sign up for family cares, whereas smaller discount in preschool encourages families to choose center cares even though it’s more expensive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604" name="Google Shape;604;p60"/>
          <p:cNvSpPr txBox="1"/>
          <p:nvPr/>
        </p:nvSpPr>
        <p:spPr>
          <a:xfrm>
            <a:off x="137400" y="139000"/>
            <a:ext cx="4761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Urbanist"/>
                <a:ea typeface="Urbanist"/>
                <a:cs typeface="Urbanist"/>
                <a:sym typeface="Urbanist"/>
              </a:rPr>
              <a:t>Family-Care Discounts by Age Group</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b="1" sz="1800">
              <a:solidFill>
                <a:schemeClr val="lt1"/>
              </a:solidFill>
              <a:latin typeface="Urbanist"/>
              <a:ea typeface="Urbanist"/>
              <a:cs typeface="Urbanist"/>
              <a:sym typeface="Urbanist"/>
            </a:endParaRPr>
          </a:p>
        </p:txBody>
      </p:sp>
      <p:sp>
        <p:nvSpPr>
          <p:cNvPr id="605" name="Google Shape;605;p60"/>
          <p:cNvSpPr/>
          <p:nvPr/>
        </p:nvSpPr>
        <p:spPr>
          <a:xfrm>
            <a:off x="157200" y="4646650"/>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id="606" name="Google Shape;606;p60"/>
          <p:cNvPicPr preferRelativeResize="0"/>
          <p:nvPr/>
        </p:nvPicPr>
        <p:blipFill>
          <a:blip r:embed="rId3">
            <a:alphaModFix/>
          </a:blip>
          <a:stretch>
            <a:fillRect/>
          </a:stretch>
        </p:blipFill>
        <p:spPr>
          <a:xfrm>
            <a:off x="3370500" y="1007850"/>
            <a:ext cx="5691251" cy="335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1"/>
          <p:cNvSpPr/>
          <p:nvPr/>
        </p:nvSpPr>
        <p:spPr>
          <a:xfrm>
            <a:off x="6080700" y="228600"/>
            <a:ext cx="2835000" cy="2062800"/>
          </a:xfrm>
          <a:prstGeom prst="roundRect">
            <a:avLst>
              <a:gd fmla="val 1185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dk1"/>
              </a:solidFill>
              <a:latin typeface="Urbanist"/>
              <a:ea typeface="Urbanist"/>
              <a:cs typeface="Urbanist"/>
              <a:sym typeface="Urbanist"/>
            </a:endParaRPr>
          </a:p>
        </p:txBody>
      </p:sp>
      <p:sp>
        <p:nvSpPr>
          <p:cNvPr id="612" name="Google Shape;612;p61"/>
          <p:cNvSpPr/>
          <p:nvPr/>
        </p:nvSpPr>
        <p:spPr>
          <a:xfrm flipH="1">
            <a:off x="7892675" y="457200"/>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1000">
              <a:solidFill>
                <a:schemeClr val="dk1"/>
              </a:solidFill>
              <a:latin typeface="Urbanist"/>
              <a:ea typeface="Urbanist"/>
              <a:cs typeface="Urbanist"/>
              <a:sym typeface="Urbanist"/>
            </a:endParaRPr>
          </a:p>
        </p:txBody>
      </p:sp>
      <p:sp>
        <p:nvSpPr>
          <p:cNvPr id="613" name="Google Shape;613;p61"/>
          <p:cNvSpPr/>
          <p:nvPr/>
        </p:nvSpPr>
        <p:spPr>
          <a:xfrm>
            <a:off x="3154500" y="228600"/>
            <a:ext cx="2835000" cy="2062800"/>
          </a:xfrm>
          <a:prstGeom prst="roundRect">
            <a:avLst>
              <a:gd fmla="val 1230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4" name="Google Shape;614;p61"/>
          <p:cNvSpPr/>
          <p:nvPr/>
        </p:nvSpPr>
        <p:spPr>
          <a:xfrm flipH="1">
            <a:off x="4966475" y="457200"/>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rPr b="1" lang="en" sz="1000">
                <a:solidFill>
                  <a:schemeClr val="dk1"/>
                </a:solidFill>
                <a:latin typeface="Urbanist"/>
                <a:ea typeface="Urbanist"/>
                <a:cs typeface="Urbanist"/>
                <a:sym typeface="Urbanist"/>
              </a:rPr>
              <a:t>1</a:t>
            </a:r>
            <a:endParaRPr b="1" sz="1000">
              <a:solidFill>
                <a:schemeClr val="dk1"/>
              </a:solidFill>
              <a:latin typeface="Urbanist"/>
              <a:ea typeface="Urbanist"/>
              <a:cs typeface="Urbanist"/>
              <a:sym typeface="Urbanist"/>
            </a:endParaRPr>
          </a:p>
        </p:txBody>
      </p:sp>
      <p:sp>
        <p:nvSpPr>
          <p:cNvPr id="615" name="Google Shape;615;p61"/>
          <p:cNvSpPr/>
          <p:nvPr/>
        </p:nvSpPr>
        <p:spPr>
          <a:xfrm>
            <a:off x="6080700" y="2389841"/>
            <a:ext cx="2835000" cy="2062800"/>
          </a:xfrm>
          <a:prstGeom prst="roundRect">
            <a:avLst>
              <a:gd fmla="val 1160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6" name="Google Shape;616;p61"/>
          <p:cNvSpPr/>
          <p:nvPr/>
        </p:nvSpPr>
        <p:spPr>
          <a:xfrm flipH="1">
            <a:off x="7892675" y="2621861"/>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1000">
              <a:solidFill>
                <a:schemeClr val="dk1"/>
              </a:solidFill>
              <a:latin typeface="Urbanist"/>
              <a:ea typeface="Urbanist"/>
              <a:cs typeface="Urbanist"/>
              <a:sym typeface="Urbanist"/>
            </a:endParaRPr>
          </a:p>
        </p:txBody>
      </p:sp>
      <p:sp>
        <p:nvSpPr>
          <p:cNvPr id="617" name="Google Shape;617;p61"/>
          <p:cNvSpPr/>
          <p:nvPr/>
        </p:nvSpPr>
        <p:spPr>
          <a:xfrm>
            <a:off x="3154500" y="2389841"/>
            <a:ext cx="2835000" cy="2062800"/>
          </a:xfrm>
          <a:prstGeom prst="roundRect">
            <a:avLst>
              <a:gd fmla="val 1087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18" name="Google Shape;618;p61"/>
          <p:cNvSpPr/>
          <p:nvPr/>
        </p:nvSpPr>
        <p:spPr>
          <a:xfrm flipH="1">
            <a:off x="4966475" y="2621861"/>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1000">
              <a:solidFill>
                <a:schemeClr val="dk1"/>
              </a:solidFill>
              <a:latin typeface="Urbanist"/>
              <a:ea typeface="Urbanist"/>
              <a:cs typeface="Urbanist"/>
              <a:sym typeface="Urbanist"/>
            </a:endParaRPr>
          </a:p>
        </p:txBody>
      </p:sp>
      <p:sp>
        <p:nvSpPr>
          <p:cNvPr id="619" name="Google Shape;619;p61"/>
          <p:cNvSpPr/>
          <p:nvPr/>
        </p:nvSpPr>
        <p:spPr>
          <a:xfrm flipH="1">
            <a:off x="7892675" y="457200"/>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Urbanist"/>
                <a:ea typeface="Urbanist"/>
                <a:cs typeface="Urbanist"/>
                <a:sym typeface="Urbanist"/>
              </a:rPr>
              <a:t>2</a:t>
            </a:r>
            <a:endParaRPr b="1" sz="1000">
              <a:solidFill>
                <a:schemeClr val="dk1"/>
              </a:solidFill>
              <a:latin typeface="Urbanist"/>
              <a:ea typeface="Urbanist"/>
              <a:cs typeface="Urbanist"/>
              <a:sym typeface="Urbanist"/>
            </a:endParaRPr>
          </a:p>
        </p:txBody>
      </p:sp>
      <p:sp>
        <p:nvSpPr>
          <p:cNvPr id="620" name="Google Shape;620;p61"/>
          <p:cNvSpPr/>
          <p:nvPr/>
        </p:nvSpPr>
        <p:spPr>
          <a:xfrm flipH="1">
            <a:off x="7892675" y="2621861"/>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Urbanist"/>
                <a:ea typeface="Urbanist"/>
                <a:cs typeface="Urbanist"/>
                <a:sym typeface="Urbanist"/>
              </a:rPr>
              <a:t>4</a:t>
            </a:r>
            <a:endParaRPr b="1" sz="1000">
              <a:solidFill>
                <a:schemeClr val="dk1"/>
              </a:solidFill>
              <a:latin typeface="Urbanist"/>
              <a:ea typeface="Urbanist"/>
              <a:cs typeface="Urbanist"/>
              <a:sym typeface="Urbanist"/>
            </a:endParaRPr>
          </a:p>
        </p:txBody>
      </p:sp>
      <p:sp>
        <p:nvSpPr>
          <p:cNvPr id="621" name="Google Shape;621;p61"/>
          <p:cNvSpPr/>
          <p:nvPr/>
        </p:nvSpPr>
        <p:spPr>
          <a:xfrm flipH="1">
            <a:off x="4966475" y="2621861"/>
            <a:ext cx="900000" cy="361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Urbanist"/>
                <a:ea typeface="Urbanist"/>
                <a:cs typeface="Urbanist"/>
                <a:sym typeface="Urbanist"/>
              </a:rPr>
              <a:t>3</a:t>
            </a:r>
            <a:endParaRPr b="1" sz="1000">
              <a:solidFill>
                <a:schemeClr val="dk1"/>
              </a:solidFill>
              <a:latin typeface="Urbanist"/>
              <a:ea typeface="Urbanist"/>
              <a:cs typeface="Urbanist"/>
              <a:sym typeface="Urbanist"/>
            </a:endParaRPr>
          </a:p>
        </p:txBody>
      </p:sp>
      <p:sp>
        <p:nvSpPr>
          <p:cNvPr id="622" name="Google Shape;622;p61"/>
          <p:cNvSpPr txBox="1"/>
          <p:nvPr>
            <p:ph type="title"/>
          </p:nvPr>
        </p:nvSpPr>
        <p:spPr>
          <a:xfrm>
            <a:off x="233850" y="228600"/>
            <a:ext cx="2190000" cy="22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800"/>
              <a:t>Policy Implications &amp; Recommendations</a:t>
            </a:r>
            <a:endParaRPr b="1" sz="1800"/>
          </a:p>
          <a:p>
            <a:pPr indent="0" lvl="0" marL="0" rtl="0" algn="l">
              <a:spcBef>
                <a:spcPts val="0"/>
              </a:spcBef>
              <a:spcAft>
                <a:spcPts val="0"/>
              </a:spcAft>
              <a:buClr>
                <a:schemeClr val="dk1"/>
              </a:buClr>
              <a:buSzPts val="1100"/>
              <a:buFont typeface="Arial"/>
              <a:buNone/>
            </a:pPr>
            <a:r>
              <a:t/>
            </a:r>
            <a:endParaRPr>
              <a:latin typeface="Urbanist Medium"/>
              <a:ea typeface="Urbanist Medium"/>
              <a:cs typeface="Urbanist Medium"/>
              <a:sym typeface="Urbanist Medium"/>
            </a:endParaRPr>
          </a:p>
          <a:p>
            <a:pPr indent="0" lvl="0" marL="0" rtl="0" algn="l">
              <a:spcBef>
                <a:spcPts val="0"/>
              </a:spcBef>
              <a:spcAft>
                <a:spcPts val="0"/>
              </a:spcAft>
              <a:buNone/>
            </a:pPr>
            <a:r>
              <a:t/>
            </a:r>
            <a:endParaRPr>
              <a:latin typeface="Urbanist Medium"/>
              <a:ea typeface="Urbanist Medium"/>
              <a:cs typeface="Urbanist Medium"/>
              <a:sym typeface="Urbanist Medium"/>
            </a:endParaRPr>
          </a:p>
        </p:txBody>
      </p:sp>
      <p:sp>
        <p:nvSpPr>
          <p:cNvPr id="623" name="Google Shape;623;p61"/>
          <p:cNvSpPr txBox="1"/>
          <p:nvPr>
            <p:ph idx="1" type="subTitle"/>
          </p:nvPr>
        </p:nvSpPr>
        <p:spPr>
          <a:xfrm>
            <a:off x="322200"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Company Name</a:t>
            </a:r>
            <a:endParaRPr/>
          </a:p>
        </p:txBody>
      </p:sp>
      <p:sp>
        <p:nvSpPr>
          <p:cNvPr id="624" name="Google Shape;624;p61"/>
          <p:cNvSpPr txBox="1"/>
          <p:nvPr>
            <p:ph idx="2" type="subTitle"/>
          </p:nvPr>
        </p:nvSpPr>
        <p:spPr>
          <a:xfrm>
            <a:off x="47334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endParaRPr/>
          </a:p>
        </p:txBody>
      </p:sp>
      <p:sp>
        <p:nvSpPr>
          <p:cNvPr id="625" name="Google Shape;625;p61"/>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Clr>
                <a:schemeClr val="dk1"/>
              </a:buClr>
              <a:buSzPts val="1100"/>
              <a:buFont typeface="Arial"/>
              <a:buNone/>
            </a:pPr>
            <a:r>
              <a:rPr lang="en"/>
              <a:t>Year</a:t>
            </a:r>
            <a:endParaRPr/>
          </a:p>
        </p:txBody>
      </p:sp>
      <p:sp>
        <p:nvSpPr>
          <p:cNvPr id="626" name="Google Shape;626;p61"/>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t>Pricing Gap</a:t>
            </a:r>
            <a:endParaRPr/>
          </a:p>
        </p:txBody>
      </p:sp>
      <p:sp>
        <p:nvSpPr>
          <p:cNvPr id="627" name="Google Shape;627;p61"/>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Close the pricing gap between center based and family based </a:t>
            </a:r>
            <a:r>
              <a:rPr lang="en">
                <a:solidFill>
                  <a:schemeClr val="lt1"/>
                </a:solidFill>
                <a:latin typeface="Urbanist"/>
                <a:ea typeface="Urbanist"/>
                <a:cs typeface="Urbanist"/>
                <a:sym typeface="Urbanist"/>
              </a:rPr>
              <a:t>child cares</a:t>
            </a:r>
            <a:r>
              <a:rPr lang="en">
                <a:solidFill>
                  <a:schemeClr val="lt1"/>
                </a:solidFill>
                <a:latin typeface="Urbanist"/>
                <a:ea typeface="Urbanist"/>
                <a:cs typeface="Urbanist"/>
                <a:sym typeface="Urbanist"/>
              </a:rPr>
              <a:t> while advocating and working on improving the quality of family care centers</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28" name="Google Shape;628;p61"/>
          <p:cNvSpPr txBox="1"/>
          <p:nvPr>
            <p:ph idx="7" type="title"/>
          </p:nvPr>
        </p:nvSpPr>
        <p:spPr>
          <a:xfrm>
            <a:off x="6318039" y="635525"/>
            <a:ext cx="1461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Location Balancing</a:t>
            </a:r>
            <a:endParaRPr>
              <a:latin typeface="Urbanist Medium"/>
              <a:ea typeface="Urbanist Medium"/>
              <a:cs typeface="Urbanist Medium"/>
              <a:sym typeface="Urbanist Medium"/>
            </a:endParaRPr>
          </a:p>
        </p:txBody>
      </p:sp>
      <p:sp>
        <p:nvSpPr>
          <p:cNvPr id="629" name="Google Shape;629;p61"/>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Focus subsidy and support on most costly counties and states, especially on the coastal areas; Incentivize or expand family-based care in high-cost areas</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30" name="Google Shape;630;p61"/>
          <p:cNvSpPr txBox="1"/>
          <p:nvPr>
            <p:ph idx="13" type="title"/>
          </p:nvPr>
        </p:nvSpPr>
        <p:spPr>
          <a:xfrm>
            <a:off x="6318039" y="2767715"/>
            <a:ext cx="1461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Deep Dive Modeling</a:t>
            </a:r>
            <a:endParaRPr>
              <a:latin typeface="Urbanist Medium"/>
              <a:ea typeface="Urbanist Medium"/>
              <a:cs typeface="Urbanist Medium"/>
              <a:sym typeface="Urbanist Medium"/>
            </a:endParaRPr>
          </a:p>
        </p:txBody>
      </p:sp>
      <p:sp>
        <p:nvSpPr>
          <p:cNvPr id="631" name="Google Shape;631;p61"/>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Increase capital expenditure to drive pricing balance among age groups through real-time market demand and supply</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32" name="Google Shape;632;p61"/>
          <p:cNvSpPr txBox="1"/>
          <p:nvPr>
            <p:ph idx="16" type="title"/>
          </p:nvPr>
        </p:nvSpPr>
        <p:spPr>
          <a:xfrm>
            <a:off x="3379125" y="2767715"/>
            <a:ext cx="14613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Gender Benefits</a:t>
            </a:r>
            <a:endParaRPr>
              <a:latin typeface="Urbanist Medium"/>
              <a:ea typeface="Urbanist Medium"/>
              <a:cs typeface="Urbanist Medium"/>
              <a:sym typeface="Urbanist Medium"/>
            </a:endParaRPr>
          </a:p>
        </p:txBody>
      </p:sp>
      <p:sp>
        <p:nvSpPr>
          <p:cNvPr id="633" name="Google Shape;633;p61"/>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Incentivize single-mom families with price discount to close the income inequality between genders</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34" name="Google Shape;634;p61"/>
          <p:cNvSpPr/>
          <p:nvPr/>
        </p:nvSpPr>
        <p:spPr>
          <a:xfrm>
            <a:off x="157200" y="4614625"/>
            <a:ext cx="8829600" cy="35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